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Century Schoolbook"/>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2FE981-939E-4CBF-B84C-13E51531D1C8}">
  <a:tblStyle styleId="{3F2FE981-939E-4CBF-B84C-13E51531D1C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Schoolbook-bold.fntdata"/><Relationship Id="rId20" Type="http://schemas.openxmlformats.org/officeDocument/2006/relationships/slide" Target="slides/slide14.xml"/><Relationship Id="rId42" Type="http://schemas.openxmlformats.org/officeDocument/2006/relationships/font" Target="fonts/CenturySchoolbook-boldItalic.fntdata"/><Relationship Id="rId41" Type="http://schemas.openxmlformats.org/officeDocument/2006/relationships/font" Target="fonts/CenturySchoolbook-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CenturySchoolbook-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ieeexplore.ieee.org/author/37088921210" TargetMode="External"/><Relationship Id="rId4" Type="http://schemas.openxmlformats.org/officeDocument/2006/relationships/hyperlink" Target="https://ieeexplore.ieee.org/author/3827408860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scholar.google.com/citations?user=drEVkXUAAAAJ&amp;hl=en&amp;oi=sra" TargetMode="External"/><Relationship Id="rId4" Type="http://schemas.openxmlformats.org/officeDocument/2006/relationships/hyperlink" Target="https://scholar.google.com/citations?user=iVCrJKoAAAAJ&amp;hl=en&amp;oi=sr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scholar.google.com/citations?user=dFs-4LwAAAAJ&amp;hl=en&amp;oi=sr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nature.com/articles/s41598-020-68771-z#auth-Leon-Kopitar-Aff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scholar.google.com/citations?user=pTF3o38AAAAJ&amp;hl=en&amp;oi=sra"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scholar.google.com/citations?user=DHCy4r4AAAAJ&amp;hl=en&amp;oi=sr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scholar.google.com/citations?user=RcaUHs4AAAAJ&amp;hl=en&amp;oi=sr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scholar.google.com/citations?user=Ni2oFuoAAAAJ&amp;hl=en&amp;oi=sra" TargetMode="External"/><Relationship Id="rId4" Type="http://schemas.openxmlformats.org/officeDocument/2006/relationships/hyperlink" Target="https://scholar.google.com/citations?user=k_5KFegAAAAJ&amp;hl=en&amp;oi=sr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188258" y="627529"/>
            <a:ext cx="11815483" cy="45858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IN" sz="1900" u="none" cap="none" strike="noStrike">
                <a:solidFill>
                  <a:schemeClr val="dk1"/>
                </a:solidFill>
                <a:latin typeface="Century Schoolbook"/>
                <a:ea typeface="Century Schoolbook"/>
                <a:cs typeface="Century Schoolbook"/>
                <a:sym typeface="Century Schoolbook"/>
              </a:rPr>
              <a:t>------Your College Name—-</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IN" sz="1900" u="none" cap="none" strike="noStrike">
                <a:solidFill>
                  <a:schemeClr val="dk1"/>
                </a:solidFill>
                <a:latin typeface="Century Schoolbook"/>
                <a:ea typeface="Century Schoolbook"/>
                <a:cs typeface="Century Schoolbook"/>
                <a:sym typeface="Century Schoolbook"/>
              </a:rPr>
              <a:t>DEPARTMENT OF COMPUTER SCIENCE AND ENGINEERING</a:t>
            </a:r>
            <a:endParaRPr/>
          </a:p>
          <a:p>
            <a:pPr indent="0" lvl="0" marL="0" marR="0" rtl="0" algn="ctr">
              <a:lnSpc>
                <a:spcPct val="100000"/>
              </a:lnSpc>
              <a:spcBef>
                <a:spcPts val="0"/>
              </a:spcBef>
              <a:spcAft>
                <a:spcPts val="0"/>
              </a:spcAft>
              <a:buClr>
                <a:srgbClr val="000000"/>
              </a:buClr>
              <a:buSzPts val="2000"/>
              <a:buFont typeface="Arial"/>
              <a:buNone/>
            </a:pPr>
            <a:r>
              <a:t/>
            </a:r>
            <a:endParaRPr b="1" i="0" sz="1900" u="none" cap="none" strike="noStrike">
              <a:solidFill>
                <a:schemeClr val="dk1"/>
              </a:solidFill>
              <a:latin typeface="Century Schoolbook"/>
              <a:ea typeface="Century Schoolbook"/>
              <a:cs typeface="Century Schoolbook"/>
              <a:sym typeface="Century Schoolbook"/>
            </a:endParaRPr>
          </a:p>
          <a:p>
            <a:pPr indent="0" lvl="0" marL="0" marR="0" rtl="0" algn="ctr">
              <a:lnSpc>
                <a:spcPct val="100000"/>
              </a:lnSpc>
              <a:spcBef>
                <a:spcPts val="0"/>
              </a:spcBef>
              <a:spcAft>
                <a:spcPts val="0"/>
              </a:spcAft>
              <a:buClr>
                <a:srgbClr val="000000"/>
              </a:buClr>
              <a:buSzPts val="20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i="0" lang="en-IN" sz="2400" u="none" cap="none" strike="noStrike">
                <a:solidFill>
                  <a:schemeClr val="dk1"/>
                </a:solidFill>
                <a:latin typeface="Times New Roman"/>
                <a:ea typeface="Times New Roman"/>
                <a:cs typeface="Times New Roman"/>
                <a:sym typeface="Times New Roman"/>
              </a:rPr>
              <a:t>MAJOR PROJECT</a:t>
            </a:r>
            <a:endParaRPr/>
          </a:p>
          <a:p>
            <a:pPr indent="0" lvl="0" marL="0" marR="0" rtl="0" algn="ctr">
              <a:lnSpc>
                <a:spcPct val="100000"/>
              </a:lnSpc>
              <a:spcBef>
                <a:spcPts val="0"/>
              </a:spcBef>
              <a:spcAft>
                <a:spcPts val="0"/>
              </a:spcAft>
              <a:buClr>
                <a:srgbClr val="000000"/>
              </a:buClr>
              <a:buSzPts val="2000"/>
              <a:buFont typeface="Arial"/>
              <a:buNone/>
            </a:pPr>
            <a:r>
              <a:rPr b="1" i="0" lang="en-IN" sz="2600" u="none" cap="none" strike="noStrike">
                <a:solidFill>
                  <a:schemeClr val="dk1"/>
                </a:solidFill>
                <a:latin typeface="Times New Roman"/>
                <a:ea typeface="Times New Roman"/>
                <a:cs typeface="Times New Roman"/>
                <a:sym typeface="Times New Roman"/>
              </a:rPr>
              <a:t>2020-2024</a:t>
            </a:r>
            <a:endParaRPr b="1" i="0" sz="2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1900" u="none" cap="none" strike="noStrike">
              <a:solidFill>
                <a:schemeClr val="dk1"/>
              </a:solidFill>
              <a:latin typeface="Century Schoolbook"/>
              <a:ea typeface="Century Schoolbook"/>
              <a:cs typeface="Century Schoolbook"/>
              <a:sym typeface="Century Schoolbook"/>
            </a:endParaRPr>
          </a:p>
          <a:p>
            <a:pPr indent="0" lvl="0" marL="0" marR="0" rtl="0" algn="ctr">
              <a:lnSpc>
                <a:spcPct val="100000"/>
              </a:lnSpc>
              <a:spcBef>
                <a:spcPts val="0"/>
              </a:spcBef>
              <a:spcAft>
                <a:spcPts val="0"/>
              </a:spcAft>
              <a:buClr>
                <a:srgbClr val="000000"/>
              </a:buClr>
              <a:buSzPts val="2000"/>
              <a:buFont typeface="Arial"/>
              <a:buNone/>
            </a:pPr>
            <a:r>
              <a:t/>
            </a:r>
            <a:endParaRPr b="1" i="0" sz="1900" u="none" cap="none" strike="noStrike">
              <a:solidFill>
                <a:schemeClr val="dk1"/>
              </a:solidFill>
              <a:latin typeface="Century Schoolbook"/>
              <a:ea typeface="Century Schoolbook"/>
              <a:cs typeface="Century Schoolbook"/>
              <a:sym typeface="Century Schoolbook"/>
            </a:endParaRPr>
          </a:p>
          <a:p>
            <a:pPr indent="0" lvl="0" marL="0" marR="0" rtl="0" algn="ctr">
              <a:lnSpc>
                <a:spcPct val="100000"/>
              </a:lnSpc>
              <a:spcBef>
                <a:spcPts val="0"/>
              </a:spcBef>
              <a:spcAft>
                <a:spcPts val="0"/>
              </a:spcAft>
              <a:buClr>
                <a:srgbClr val="000000"/>
              </a:buClr>
              <a:buSzPts val="2000"/>
              <a:buFont typeface="Arial"/>
              <a:buNone/>
            </a:pPr>
            <a:r>
              <a:rPr b="1" i="0" lang="en-IN" sz="4000" u="none" cap="none" strike="noStrike">
                <a:solidFill>
                  <a:srgbClr val="FF0000"/>
                </a:solidFill>
                <a:latin typeface="Times New Roman"/>
                <a:ea typeface="Times New Roman"/>
                <a:cs typeface="Times New Roman"/>
                <a:sym typeface="Times New Roman"/>
              </a:rPr>
              <a:t>DIABETES PREDICTION USING MACHINE LEARNING</a:t>
            </a:r>
            <a:endParaRPr b="0" i="0" sz="1900" u="none" cap="none" strike="noStrike">
              <a:solidFill>
                <a:srgbClr val="FF0000"/>
              </a:solidFill>
              <a:latin typeface="Arial"/>
              <a:ea typeface="Arial"/>
              <a:cs typeface="Arial"/>
              <a:sym typeface="Arial"/>
            </a:endParaRPr>
          </a:p>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 </a:t>
            </a:r>
            <a:r>
              <a:rPr b="1" lang="en-IN">
                <a:latin typeface="Times New Roman"/>
                <a:ea typeface="Times New Roman"/>
                <a:cs typeface="Times New Roman"/>
                <a:sym typeface="Times New Roman"/>
              </a:rPr>
              <a:t>DIABETES PREDICTION USING MACHINE LEARNING</a:t>
            </a:r>
            <a:endParaRPr b="1">
              <a:latin typeface="Times New Roman"/>
              <a:ea typeface="Times New Roman"/>
              <a:cs typeface="Times New Roman"/>
              <a:sym typeface="Times New Roman"/>
            </a:endParaRPr>
          </a:p>
        </p:txBody>
      </p:sp>
      <p:sp>
        <p:nvSpPr>
          <p:cNvPr id="94" name="Google Shape;94;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IN"/>
              <a:t>      </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IN"/>
              <a:t>    </a:t>
            </a:r>
            <a:r>
              <a:rPr lang="en-IN">
                <a:latin typeface="Times New Roman"/>
                <a:ea typeface="Times New Roman"/>
                <a:cs typeface="Times New Roman"/>
                <a:sym typeface="Times New Roman"/>
              </a:rPr>
              <a:t>Under the guidance of</a:t>
            </a:r>
            <a:r>
              <a:rPr lang="en-IN"/>
              <a:t>:                                               </a:t>
            </a:r>
            <a:r>
              <a:rPr lang="en-IN">
                <a:latin typeface="Times New Roman"/>
                <a:ea typeface="Times New Roman"/>
                <a:cs typeface="Times New Roman"/>
                <a:sym typeface="Times New Roman"/>
              </a:rPr>
              <a:t>Presented by: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idx="4294967295" type="title"/>
          </p:nvPr>
        </p:nvSpPr>
        <p:spPr>
          <a:xfrm>
            <a:off x="445293" y="339725"/>
            <a:ext cx="11301413" cy="8191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262626"/>
              </a:buClr>
              <a:buSzPts val="4000"/>
              <a:buFont typeface="Century Gothic"/>
              <a:buNone/>
            </a:pPr>
            <a:r>
              <a:rPr b="1" lang="en-IN" sz="4000">
                <a:solidFill>
                  <a:schemeClr val="dk1"/>
                </a:solidFill>
                <a:latin typeface="Times New Roman"/>
                <a:ea typeface="Times New Roman"/>
                <a:cs typeface="Times New Roman"/>
                <a:sym typeface="Times New Roman"/>
              </a:rPr>
              <a:t>Agenda</a:t>
            </a:r>
            <a:endParaRPr sz="4000">
              <a:solidFill>
                <a:schemeClr val="dk1"/>
              </a:solidFill>
              <a:latin typeface="Times New Roman"/>
              <a:ea typeface="Times New Roman"/>
              <a:cs typeface="Times New Roman"/>
              <a:sym typeface="Times New Roman"/>
            </a:endParaRPr>
          </a:p>
        </p:txBody>
      </p:sp>
      <p:sp>
        <p:nvSpPr>
          <p:cNvPr id="100" name="Google Shape;100;p15"/>
          <p:cNvSpPr txBox="1"/>
          <p:nvPr>
            <p:ph idx="4294967295" type="body"/>
          </p:nvPr>
        </p:nvSpPr>
        <p:spPr>
          <a:xfrm>
            <a:off x="693364" y="1158875"/>
            <a:ext cx="11301412" cy="4379912"/>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000"/>
              <a:buNone/>
            </a:pPr>
            <a:r>
              <a:t/>
            </a:r>
            <a:endParaRPr sz="19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Abstract</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Introduction </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Literature Survey </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Existing system</a:t>
            </a:r>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Disadvantages</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Proposed system</a:t>
            </a:r>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Advantages</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Tools and techniques for the proposed system </a:t>
            </a:r>
            <a:endParaRPr b="1" sz="2300">
              <a:solidFill>
                <a:schemeClr val="dk1"/>
              </a:solidFill>
              <a:latin typeface="Times New Roman"/>
              <a:ea typeface="Times New Roman"/>
              <a:cs typeface="Times New Roman"/>
              <a:sym typeface="Times New Roman"/>
            </a:endParaRPr>
          </a:p>
          <a:p>
            <a:pPr indent="-336550" lvl="0" marL="342900" rtl="0" algn="just">
              <a:lnSpc>
                <a:spcPct val="100000"/>
              </a:lnSpc>
              <a:spcBef>
                <a:spcPts val="1000"/>
              </a:spcBef>
              <a:spcAft>
                <a:spcPts val="0"/>
              </a:spcAft>
              <a:buClr>
                <a:schemeClr val="dk1"/>
              </a:buClr>
              <a:buSzPts val="1900"/>
              <a:buFont typeface="Century Schoolbook"/>
              <a:buChar char="●"/>
            </a:pPr>
            <a:r>
              <a:rPr b="1" lang="en-IN" sz="2300">
                <a:solidFill>
                  <a:schemeClr val="dk1"/>
                </a:solidFill>
                <a:latin typeface="Times New Roman"/>
                <a:ea typeface="Times New Roman"/>
                <a:cs typeface="Times New Roman"/>
                <a:sym typeface="Times New Roman"/>
              </a:rPr>
              <a:t>References</a:t>
            </a:r>
            <a:endParaRPr b="1" sz="23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ABSTRACT</a:t>
            </a:r>
            <a:endParaRPr/>
          </a:p>
        </p:txBody>
      </p:sp>
      <p:sp>
        <p:nvSpPr>
          <p:cNvPr id="106" name="Google Shape;106;p16"/>
          <p:cNvSpPr txBox="1"/>
          <p:nvPr>
            <p:ph idx="1" type="body"/>
          </p:nvPr>
        </p:nvSpPr>
        <p:spPr>
          <a:xfrm>
            <a:off x="677779" y="1440614"/>
            <a:ext cx="10515600" cy="4351338"/>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lang="en-IN" sz="2200">
                <a:solidFill>
                  <a:schemeClr val="dk1"/>
                </a:solidFill>
                <a:latin typeface="Times New Roman"/>
                <a:ea typeface="Times New Roman"/>
                <a:cs typeface="Times New Roman"/>
                <a:sym typeface="Times New Roman"/>
              </a:rPr>
              <a:t>Diabetes is caused by an excess of sugar that has collected in the blood. It is currently regarded as one of the world's most deadly illnesses. This fatal disease affects people worldwide, whether they are aware of it or not. Diabetes can also lead to heart attacks, paralysis, renal failure, blindness, and other complications. For predicting and assessing Diabetes, several computer-based detection methods were built and defined. The traditional way of detecting diabetes people takes more time and money. However, with the advancement of machine learning, we now have the potential to design a solution to this complex problem. As a result, we created an architecture to predict whether that patient has Diabetes or not. We employed the Pima Indian benchmark dataset, which can predict the onset of Diabetes based on diagnostics.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649036"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INTRODUCTION</a:t>
            </a:r>
            <a:endParaRPr/>
          </a:p>
        </p:txBody>
      </p:sp>
      <p:sp>
        <p:nvSpPr>
          <p:cNvPr id="112" name="Google Shape;112;p17"/>
          <p:cNvSpPr txBox="1"/>
          <p:nvPr>
            <p:ph idx="1" type="body"/>
          </p:nvPr>
        </p:nvSpPr>
        <p:spPr>
          <a:xfrm>
            <a:off x="838200" y="1075489"/>
            <a:ext cx="10515600" cy="4106863"/>
          </a:xfrm>
          <a:prstGeom prst="rect">
            <a:avLst/>
          </a:prstGeom>
          <a:noFill/>
          <a:ln>
            <a:noFill/>
          </a:ln>
        </p:spPr>
        <p:txBody>
          <a:bodyPr anchorCtr="0" anchor="t" bIns="45700" lIns="91425" spcFirstLastPara="1" rIns="91425" wrap="square" tIns="45700">
            <a:noAutofit/>
          </a:bodyPr>
          <a:lstStyle/>
          <a:p>
            <a:pPr indent="-336550" lvl="0" marL="342900" rtl="0" algn="just">
              <a:lnSpc>
                <a:spcPct val="150000"/>
              </a:lnSpc>
              <a:spcBef>
                <a:spcPts val="0"/>
              </a:spcBef>
              <a:spcAft>
                <a:spcPts val="0"/>
              </a:spcAft>
              <a:buClr>
                <a:schemeClr val="dk1"/>
              </a:buClr>
              <a:buSzPts val="1900"/>
              <a:buFont typeface="Times New Roman"/>
              <a:buChar char="●"/>
            </a:pPr>
            <a:r>
              <a:rPr lang="en-IN" sz="2200">
                <a:solidFill>
                  <a:schemeClr val="dk1"/>
                </a:solidFill>
                <a:latin typeface="Times New Roman"/>
                <a:ea typeface="Times New Roman"/>
                <a:cs typeface="Times New Roman"/>
                <a:sym typeface="Times New Roman"/>
              </a:rPr>
              <a:t>Diabetes has become the major cause of national disease and death in the majority of countries. </a:t>
            </a:r>
            <a:endParaRPr/>
          </a:p>
          <a:p>
            <a:pPr indent="-336550" lvl="0" marL="342900" rtl="0" algn="just">
              <a:lnSpc>
                <a:spcPct val="150000"/>
              </a:lnSpc>
              <a:spcBef>
                <a:spcPts val="0"/>
              </a:spcBef>
              <a:spcAft>
                <a:spcPts val="0"/>
              </a:spcAft>
              <a:buClr>
                <a:schemeClr val="dk1"/>
              </a:buClr>
              <a:buSzPts val="1900"/>
              <a:buFont typeface="Times New Roman"/>
              <a:buChar char="●"/>
            </a:pPr>
            <a:r>
              <a:rPr lang="en-IN" sz="2200">
                <a:solidFill>
                  <a:schemeClr val="dk1"/>
                </a:solidFill>
                <a:latin typeface="Times New Roman"/>
                <a:ea typeface="Times New Roman"/>
                <a:cs typeface="Times New Roman"/>
                <a:sym typeface="Times New Roman"/>
              </a:rPr>
              <a:t>Diabetes patients who are unable to control their blood glucose levels easily develop cardiovascular, nervous system, eye, foot, and other systemic diseases. </a:t>
            </a:r>
            <a:endParaRPr/>
          </a:p>
          <a:p>
            <a:pPr indent="-336550" lvl="0" marL="342900" rtl="0" algn="just">
              <a:lnSpc>
                <a:spcPct val="150000"/>
              </a:lnSpc>
              <a:spcBef>
                <a:spcPts val="0"/>
              </a:spcBef>
              <a:spcAft>
                <a:spcPts val="0"/>
              </a:spcAft>
              <a:buClr>
                <a:schemeClr val="dk1"/>
              </a:buClr>
              <a:buSzPts val="1900"/>
              <a:buFont typeface="Times New Roman"/>
              <a:buChar char="●"/>
            </a:pPr>
            <a:r>
              <a:rPr lang="en-IN" sz="2200">
                <a:solidFill>
                  <a:schemeClr val="dk1"/>
                </a:solidFill>
                <a:latin typeface="Times New Roman"/>
                <a:ea typeface="Times New Roman"/>
                <a:cs typeface="Times New Roman"/>
                <a:sym typeface="Times New Roman"/>
              </a:rPr>
              <a:t>Diabetes can be classified into three types: Type 1 diabetes, type 2 diabetes and gestational diabetes. Type 1 diabetes(IDDM),accounts for 6% to 11% of all diagnosed cases of diabetes. Compared to Type 2 diabetes, Type 1 diabetes has lesser and better defined risk factors .</a:t>
            </a:r>
            <a:endParaRPr/>
          </a:p>
          <a:p>
            <a:pPr indent="-336550" lvl="0" marL="342900" rtl="0" algn="just">
              <a:lnSpc>
                <a:spcPct val="150000"/>
              </a:lnSpc>
              <a:spcBef>
                <a:spcPts val="0"/>
              </a:spcBef>
              <a:spcAft>
                <a:spcPts val="0"/>
              </a:spcAft>
              <a:buClr>
                <a:schemeClr val="dk1"/>
              </a:buClr>
              <a:buSzPts val="1900"/>
              <a:buFont typeface="Times New Roman"/>
              <a:buChar char="●"/>
            </a:pPr>
            <a:r>
              <a:rPr lang="en-IN" sz="2200">
                <a:solidFill>
                  <a:schemeClr val="dk1"/>
                </a:solidFill>
                <a:latin typeface="Times New Roman"/>
                <a:ea typeface="Times New Roman"/>
                <a:cs typeface="Times New Roman"/>
                <a:sym typeface="Times New Roman"/>
              </a:rPr>
              <a:t>Type 2 diabetes: It is also known as non-insulin-dependent diabetes mellitus (NIDDM) or adult-onset diabetes. Type 2 diabetes may account for 90 percent to 95 percent of all diabetes diagnoses</a:t>
            </a:r>
            <a:endParaRPr sz="22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18" name="Google Shape;118;p18"/>
          <p:cNvGraphicFramePr/>
          <p:nvPr/>
        </p:nvGraphicFramePr>
        <p:xfrm>
          <a:off x="471349" y="1825625"/>
          <a:ext cx="3000000" cy="3000000"/>
        </p:xfrm>
        <a:graphic>
          <a:graphicData uri="http://schemas.openxmlformats.org/drawingml/2006/table">
            <a:tbl>
              <a:tblPr bandRow="1" firstRow="1">
                <a:noFill/>
                <a:tableStyleId>{3F2FE981-939E-4CBF-B84C-13E51531D1C8}</a:tableStyleId>
              </a:tblPr>
              <a:tblGrid>
                <a:gridCol w="735325"/>
                <a:gridCol w="1943050"/>
                <a:gridCol w="1417975"/>
                <a:gridCol w="4383750"/>
                <a:gridCol w="2738325"/>
              </a:tblGrid>
              <a:tr h="370850">
                <a:tc>
                  <a:txBody>
                    <a:bodyPr/>
                    <a:lstStyle/>
                    <a:p>
                      <a:pPr indent="0" lvl="0" marL="0" marR="0" rtl="0" algn="l">
                        <a:spcBef>
                          <a:spcPts val="0"/>
                        </a:spcBef>
                        <a:spcAft>
                          <a:spcPts val="0"/>
                        </a:spcAft>
                        <a:buNone/>
                      </a:pPr>
                      <a:r>
                        <a:rPr lang="en-IN" sz="1400" u="none" cap="none" strike="noStrike">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l">
                        <a:spcBef>
                          <a:spcPts val="0"/>
                        </a:spcBef>
                        <a:spcAft>
                          <a:spcPts val="0"/>
                        </a:spcAft>
                        <a:buNone/>
                      </a:pPr>
                      <a:r>
                        <a:rPr lang="en-IN" sz="1800"/>
                        <a:t>1</a:t>
                      </a:r>
                      <a:endParaRPr/>
                    </a:p>
                  </a:txBody>
                  <a:tcPr marT="45725" marB="45725" marR="91450" marL="91450"/>
                </a:tc>
                <a:tc>
                  <a:txBody>
                    <a:bodyPr/>
                    <a:lstStyle/>
                    <a:p>
                      <a:pPr indent="0" lvl="0" marL="0" marR="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Diabetes Prediction using Machine Learning Algorithms</a:t>
                      </a:r>
                      <a:endParaRPr sz="1600">
                        <a:latin typeface="Century Schoolbook"/>
                        <a:ea typeface="Century Schoolbook"/>
                        <a:cs typeface="Century Schoolbook"/>
                        <a:sym typeface="Century Schoolbook"/>
                      </a:endParaRPr>
                    </a:p>
                    <a:p>
                      <a:pPr indent="0" lvl="0" marL="0" marR="0" rtl="0" algn="just">
                        <a:lnSpc>
                          <a:spcPct val="100000"/>
                        </a:lnSpc>
                        <a:spcBef>
                          <a:spcPts val="0"/>
                        </a:spcBef>
                        <a:spcAft>
                          <a:spcPts val="0"/>
                        </a:spcAft>
                        <a:buClr>
                          <a:schemeClr val="dk1"/>
                        </a:buClr>
                        <a:buSzPts val="1800"/>
                        <a:buFont typeface="Times New Roman"/>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Aishwarya Mujumdara, </a:t>
                      </a:r>
                      <a:endParaRPr sz="1600">
                        <a:latin typeface="Century Schoolbook"/>
                        <a:ea typeface="Century Schoolbook"/>
                        <a:cs typeface="Century Schoolbook"/>
                        <a:sym typeface="Century Schoolbook"/>
                      </a:endParaRPr>
                    </a:p>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Dr. Vaidehi Vb</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project focuses on diabetes prediction using Big Data Analytics in the healthcare industry. It addresses the critical nature of Diabetes Mellitus and its associated risks. The current hospital practice involves collecting diagnostic information through tests, but the proposed model aims to enhance classification accuracy by incorporating external factors and leveraging big data analytics to uncover hidden patterns.</a:t>
                      </a:r>
                      <a:endParaRPr sz="1800">
                        <a:latin typeface="Times New Roman"/>
                        <a:ea typeface="Times New Roman"/>
                        <a:cs typeface="Times New Roman"/>
                        <a:sym typeface="Times New Roman"/>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existing method has suboptimal classification and prediction accuracy.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Although the new dataset improves classification accuracy, specific limitations or challenges related to the proposed diabetes prediction model are not explicitly mentioned.</a:t>
                      </a:r>
                      <a:endParaRPr sz="1200">
                        <a:solidFill>
                          <a:srgbClr val="374151"/>
                        </a:solidFill>
                        <a:latin typeface="Arial"/>
                        <a:ea typeface="Arial"/>
                        <a:cs typeface="Arial"/>
                        <a:sym typeface="Arial"/>
                      </a:endParaRPr>
                    </a:p>
                    <a:p>
                      <a:pPr indent="0" lvl="0" marL="0" marR="0" rtl="0" algn="just">
                        <a:spcBef>
                          <a:spcPts val="0"/>
                        </a:spcBef>
                        <a:spcAft>
                          <a:spcPts val="0"/>
                        </a:spcAft>
                        <a:buNone/>
                      </a:pPr>
                      <a:r>
                        <a:t/>
                      </a:r>
                      <a:endParaRPr sz="1200">
                        <a:solidFill>
                          <a:srgbClr val="374151"/>
                        </a:solidFill>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24" name="Google Shape;124;p19"/>
          <p:cNvGraphicFramePr/>
          <p:nvPr/>
        </p:nvGraphicFramePr>
        <p:xfrm>
          <a:off x="863599" y="1558925"/>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3834425"/>
                <a:gridCol w="305475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2</a:t>
                      </a:r>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Deep learning approach for diabetes prediction</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Huma Naz and Sachin Ahuja </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project addresses the global impact of diabetes, emphasizing the rising number of cases and the associated health risks. It highlights the urgent need for a prognosis tool to enable early detection, allowing for timely lifestyle changes and prevention of further complications. Leveraging machine learning technologies, the research paper presents a methodology for diabetes prediction using diverse algorithms, including Artificial Neural Network, Naive Bayes, Decision Tree, and Deep Learning, on the PIMA dataset. </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specific challenges or limitations of applying machine learning to diabetes prediction, such as interpretability or data privacy concerns, are not discussed.</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While the accuracy rates are provided, the paper does not delve into potential challenges or considerations for real-world implementation of the proposed prognosis tool.</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LITERATURE SURVEY</a:t>
            </a:r>
            <a:br>
              <a:rPr lang="en-IN"/>
            </a:br>
            <a:endParaRPr/>
          </a:p>
        </p:txBody>
      </p:sp>
      <p:graphicFrame>
        <p:nvGraphicFramePr>
          <p:cNvPr id="130" name="Google Shape;130;p20"/>
          <p:cNvGraphicFramePr/>
          <p:nvPr/>
        </p:nvGraphicFramePr>
        <p:xfrm>
          <a:off x="479549" y="1448650"/>
          <a:ext cx="3000000" cy="3000000"/>
        </p:xfrm>
        <a:graphic>
          <a:graphicData uri="http://schemas.openxmlformats.org/drawingml/2006/table">
            <a:tbl>
              <a:tblPr bandRow="1" firstRow="1">
                <a:noFill/>
                <a:tableStyleId>{3F2FE981-939E-4CBF-B84C-13E51531D1C8}</a:tableStyleId>
              </a:tblPr>
              <a:tblGrid>
                <a:gridCol w="736275"/>
                <a:gridCol w="1720450"/>
                <a:gridCol w="1644925"/>
                <a:gridCol w="4494450"/>
                <a:gridCol w="263680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3</a:t>
                      </a:r>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Analysis and Prediction Of Pima Indian Diabetes Dataset</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Radhanath Patra, Bonomali Khuntia</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project introduces a novel classifier technique called Standard Deviation K Nearest Neighbour (SDKNN) based on the principle of standard deviation. It utilizes the spreading of attributes about the mean, employing standard deviation to enhance the classification accuracy of datasets. The proposed technique modifies the distance calculation formula between points in the K Nearest Neighbour (KNN) classifier, incorporating standard deviations of attributes as powers for distance calculation. The study applies this concept to the Pima Indian Diabetes Dataset (PIDD) and achieves a significant improvement in classification accuracy compared to conventional techniques.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specific challenges or drawbacks of the SDKNN technique, such as computational complexity or sensitivity to dataset characteristics, are not discussed.</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The paper does not provide insights into the generalizability of the proposed technique to other datasets or its performance in comparison to existing state-of-the-art methods.</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36" name="Google Shape;136;p21"/>
          <p:cNvGraphicFramePr/>
          <p:nvPr/>
        </p:nvGraphicFramePr>
        <p:xfrm>
          <a:off x="479549" y="1213775"/>
          <a:ext cx="3000000" cy="3000000"/>
        </p:xfrm>
        <a:graphic>
          <a:graphicData uri="http://schemas.openxmlformats.org/drawingml/2006/table">
            <a:tbl>
              <a:tblPr bandRow="1" firstRow="1">
                <a:noFill/>
                <a:tableStyleId>{3F2FE981-939E-4CBF-B84C-13E51531D1C8}</a:tableStyleId>
              </a:tblPr>
              <a:tblGrid>
                <a:gridCol w="736275"/>
                <a:gridCol w="1720450"/>
                <a:gridCol w="1644925"/>
                <a:gridCol w="4584500"/>
                <a:gridCol w="254675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4</a:t>
                      </a:r>
                      <a:endParaRPr/>
                    </a:p>
                  </a:txBody>
                  <a:tcPr marT="45725" marB="45725" marR="91450" marL="91450"/>
                </a:tc>
                <a:tc>
                  <a:txBody>
                    <a:bodyPr/>
                    <a:lstStyle/>
                    <a:p>
                      <a:pPr indent="0" lvl="0" marL="0" rtl="0" algn="l">
                        <a:lnSpc>
                          <a:spcPct val="107000"/>
                        </a:lnSpc>
                        <a:spcBef>
                          <a:spcPts val="80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A Machine Learning Approach to Predicting the Onset of Diabetes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80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Meriem Benarbia</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project focuses on leveraging supervised machine learning algorithms, including logistic regression, decision tree classifiers, random forest classifiers, and support vector classifiers, to diagnose Type II diabetes in women. By analyzing the Pima Indian Women Diabetes dataset from Kaggle, the study aims to identify crucial factors and indicators (e.g., pregnancy, blood pressure) that contribute to accurate predictions of Type II diabetes. The experiments involve training models on both scaled and unscaled datasets, leading to the generation of sixteen models for performance evaluation. The results are presented, and model-based findings are compared to determine the most effective classifier.</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specific details on the dataset size, characteristics, or any potential biases, which could impact the generalizability of the findings.</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The abstract does not discuss potential challenges or limitations of the machine learning algorithms used, such as interpretability or sensitivity to imbalanced datasets.</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42" name="Google Shape;142;p22"/>
          <p:cNvGraphicFramePr/>
          <p:nvPr/>
        </p:nvGraphicFramePr>
        <p:xfrm>
          <a:off x="838199" y="14776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167900"/>
                <a:gridCol w="272127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5</a:t>
                      </a:r>
                      <a:endParaRPr/>
                    </a:p>
                  </a:txBody>
                  <a:tcPr marT="45725" marB="45725" marR="91450" marL="91450"/>
                </a:tc>
                <a:tc>
                  <a:txBody>
                    <a:bodyPr/>
                    <a:lstStyle/>
                    <a:p>
                      <a:pPr indent="0" lvl="0" marL="0" rtl="0" algn="l">
                        <a:lnSpc>
                          <a:spcPct val="123913"/>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Diabetes Detection Using Machine Learning Classification Methods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Nour Abdulhadi</a:t>
                      </a:r>
                      <a:r>
                        <a:rPr lang="en-IN" sz="1600">
                          <a:latin typeface="Century Schoolbook"/>
                          <a:ea typeface="Century Schoolbook"/>
                          <a:cs typeface="Century Schoolbook"/>
                          <a:sym typeface="Century Schoolbook"/>
                        </a:rPr>
                        <a:t>; </a:t>
                      </a:r>
                      <a:r>
                        <a:rPr lang="en-IN" sz="1600">
                          <a:uFill>
                            <a:noFill/>
                          </a:uFill>
                          <a:latin typeface="Century Schoolbook"/>
                          <a:ea typeface="Century Schoolbook"/>
                          <a:cs typeface="Century Schoolbook"/>
                          <a:sym typeface="Century Schoolbook"/>
                          <a:hlinkClick r:id="rId4"/>
                        </a:rPr>
                        <a:t>Amjed Al-Mousa</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research aims to predict the early presence of diabetes in females using various machine learning techniques. Early detection is crucial for preventing disease progression and reducing the risk of complications like heart and kidney diseases. The study emphasizes the importance of timely lifestyle changes to avoid diabetes-related illnesses. The ultimate goal is to provide doctors with an effective tool for early disease detection and intervention. The random forest classifier model achieved an accuracy of 82% in predicting diabetes.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details on the specific machine learning techniques employed, potentially limiting the reproducibility and understanding of the study.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There is no discussion of potential challenges, biases, or limitations associated with the dataset or the chosen machine learning approach.</a:t>
                      </a:r>
                      <a:endParaRPr sz="1600">
                        <a:latin typeface="Century Schoolbook"/>
                        <a:ea typeface="Century Schoolbook"/>
                        <a:cs typeface="Century Schoolbook"/>
                        <a:sym typeface="Century Schoolbook"/>
                      </a:endParaRPr>
                    </a:p>
                    <a:p>
                      <a:pPr indent="-22860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48" name="Google Shape;148;p23"/>
          <p:cNvGraphicFramePr/>
          <p:nvPr/>
        </p:nvGraphicFramePr>
        <p:xfrm>
          <a:off x="838199" y="14776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718850"/>
                <a:gridCol w="2170325"/>
              </a:tblGrid>
              <a:tr h="439275">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6</a:t>
                      </a:r>
                      <a:endParaRPr/>
                    </a:p>
                  </a:txBody>
                  <a:tcPr marT="45725" marB="45725" marR="91450" marL="91450"/>
                </a:tc>
                <a:tc>
                  <a:txBody>
                    <a:bodyPr/>
                    <a:lstStyle/>
                    <a:p>
                      <a:pPr indent="0" lvl="0" marL="0" rtl="0" algn="l">
                        <a:lnSpc>
                          <a:spcPct val="120000"/>
                        </a:lnSpc>
                        <a:spcBef>
                          <a:spcPts val="1200"/>
                        </a:spcBef>
                        <a:spcAft>
                          <a:spcPts val="1200"/>
                        </a:spcAft>
                        <a:buClr>
                          <a:schemeClr val="dk1"/>
                        </a:buClr>
                        <a:buSzPts val="1100"/>
                        <a:buFont typeface="Arial"/>
                        <a:buNone/>
                      </a:pPr>
                      <a:r>
                        <a:rPr lang="en-IN" sz="1600">
                          <a:latin typeface="Century Schoolbook"/>
                          <a:ea typeface="Century Schoolbook"/>
                          <a:cs typeface="Century Schoolbook"/>
                          <a:sym typeface="Century Schoolbook"/>
                        </a:rPr>
                        <a:t>A comprehensive review of machine learning techniques on diabetes detection</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T Sharma</a:t>
                      </a:r>
                      <a:r>
                        <a:rPr lang="en-IN" sz="1600">
                          <a:latin typeface="Century Schoolbook"/>
                          <a:ea typeface="Century Schoolbook"/>
                          <a:cs typeface="Century Schoolbook"/>
                          <a:sym typeface="Century Schoolbook"/>
                        </a:rPr>
                        <a:t>, </a:t>
                      </a:r>
                      <a:r>
                        <a:rPr lang="en-IN" sz="1600">
                          <a:uFill>
                            <a:noFill/>
                          </a:uFill>
                          <a:latin typeface="Century Schoolbook"/>
                          <a:ea typeface="Century Schoolbook"/>
                          <a:cs typeface="Century Schoolbook"/>
                          <a:sym typeface="Century Schoolbook"/>
                          <a:hlinkClick r:id="rId4"/>
                        </a:rPr>
                        <a:t>M Shah</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addresses the increasing concern of diabetes mellitus, especially among younger individuals. Researchers and doctors have developed detection techniques based on artificial intelligence, including data mining techniques, machine vision systems, and machine learning classifiers. The deployment of support vector machines, logistic regression, decision trees, and deep learning models like artificial neural networks and recurrent neural networks is discussed. Various parameters, such as root-mean-square error and area under curves, are commonly used for evaluation. The study highlights challenges related to data inadequacy and model deployment, along with the future scope of enhancing existing models for greater insight into diabetes prevalence conditions.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specific details on the datasets used, potentially limiting the understanding of the study's applicability.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The challenges discussed are general, and specific issues related to the chosen techniques and models are not elaborated.</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54" name="Google Shape;154;p24"/>
          <p:cNvGraphicFramePr/>
          <p:nvPr/>
        </p:nvGraphicFramePr>
        <p:xfrm>
          <a:off x="751199" y="1332650"/>
          <a:ext cx="3000000" cy="3000000"/>
        </p:xfrm>
        <a:graphic>
          <a:graphicData uri="http://schemas.openxmlformats.org/drawingml/2006/table">
            <a:tbl>
              <a:tblPr bandRow="1" firstRow="1">
                <a:noFill/>
                <a:tableStyleId>{3F2FE981-939E-4CBF-B84C-13E51531D1C8}</a:tableStyleId>
              </a:tblPr>
              <a:tblGrid>
                <a:gridCol w="711275"/>
                <a:gridCol w="1734525"/>
                <a:gridCol w="1516600"/>
                <a:gridCol w="4718850"/>
                <a:gridCol w="217032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7</a:t>
                      </a:r>
                      <a:endParaRPr/>
                    </a:p>
                  </a:txBody>
                  <a:tcPr marT="45725" marB="45725" marR="91450" marL="91450"/>
                </a:tc>
                <a:tc>
                  <a:txBody>
                    <a:bodyPr/>
                    <a:lstStyle/>
                    <a:p>
                      <a:pPr indent="0" lvl="0" marL="0" marR="21386"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Early diabetes detection using machine learning</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S Gujral </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paper explores the role of machine learning in early diabetes detection, focusing on commonly associated disorders like diabetic retinopathy and diabetic neuropathy. The study reviews various machine learning techniques, including artificial neural networks, principal component analysis, decision trees, genetic algorithms, and fuzzy logic. The Pima Indian Diabetic Data Set is frequently employed in the literature. The paper provides a comprehensive overview of diabetes, discusses detection techniques, presents an extensive literature survey, and concludes with future scopes and analysis.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chemeClr val="dk1"/>
                        </a:buClr>
                        <a:buSzPts val="1100"/>
                        <a:buNone/>
                      </a:pPr>
                      <a:r>
                        <a:rPr lang="en-IN" sz="1600">
                          <a:latin typeface="Century Schoolbook"/>
                          <a:ea typeface="Century Schoolbook"/>
                          <a:cs typeface="Century Schoolbook"/>
                          <a:sym typeface="Century Schoolbook"/>
                        </a:rPr>
                        <a:t>The abstract lacks specific details about the performance metrics or results obtained by the discussed machine learning techniques.</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chemeClr val="dk1"/>
                        </a:buClr>
                        <a:buSzPts val="1100"/>
                        <a:buNone/>
                      </a:pPr>
                      <a:r>
                        <a:rPr lang="en-IN" sz="1600">
                          <a:latin typeface="Century Schoolbook"/>
                          <a:ea typeface="Century Schoolbook"/>
                          <a:cs typeface="Century Schoolbook"/>
                          <a:sym typeface="Century Schoolbook"/>
                        </a:rPr>
                        <a:t>The focus on the Pima Indian Diabetic Data Set might limit the generalizability of the findings to other populations or datasets.</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60" name="Google Shape;160;p25"/>
          <p:cNvGraphicFramePr/>
          <p:nvPr/>
        </p:nvGraphicFramePr>
        <p:xfrm>
          <a:off x="838199" y="15211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370875"/>
                <a:gridCol w="251830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8</a:t>
                      </a:r>
                      <a:endParaRPr/>
                    </a:p>
                  </a:txBody>
                  <a:tcPr marT="45725" marB="45725" marR="91450" marL="91450"/>
                </a:tc>
                <a:tc>
                  <a:txBody>
                    <a:bodyPr/>
                    <a:lstStyle/>
                    <a:p>
                      <a:pPr indent="0" lvl="0" marL="0" marR="3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Diabetes diagnosis using machine learning</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B Farajollahi, M Mehmannavaz, H Mehrjoo</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focuses on diagnosing diabetes using machine learning techniques, utilizing medical predictor variables such as the number of pregnancies, BMI, insulin level, and age. Six classifiers, including Adaboost, Logistic Regression, Decision Tree, Support Vector Machine (SVM), XGBoost, and Random Forest, are adapted and compared based on accuracy, F1-score, recall, precision, and AUC. Adaboost emerges as the most accurate classifier with an 83% accuracy rate.</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detailed information on the size and characteristics of the dataset used, limiting the context of the study.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While performance metrics are provided, there is no discussion on potential challenges, biases, or external factors that might impact model performance.</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66" name="Google Shape;166;p26"/>
          <p:cNvGraphicFramePr/>
          <p:nvPr/>
        </p:nvGraphicFramePr>
        <p:xfrm>
          <a:off x="838199" y="14486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3689425"/>
                <a:gridCol w="319975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9</a:t>
                      </a:r>
                      <a:endParaRPr/>
                    </a:p>
                  </a:txBody>
                  <a:tcPr marT="45725" marB="45725" marR="91450" marL="91450"/>
                </a:tc>
                <a:tc>
                  <a:txBody>
                    <a:bodyPr/>
                    <a:lstStyle/>
                    <a:p>
                      <a:pPr indent="0" lvl="0" marL="0" rtl="0" algn="l">
                        <a:lnSpc>
                          <a:spcPct val="123913"/>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Comparison of Different Machine Learning Models for diabetes detection</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R Katarya</a:t>
                      </a:r>
                      <a:r>
                        <a:rPr lang="en-IN" sz="1600">
                          <a:latin typeface="Century Schoolbook"/>
                          <a:ea typeface="Century Schoolbook"/>
                          <a:cs typeface="Century Schoolbook"/>
                          <a:sym typeface="Century Schoolbook"/>
                        </a:rPr>
                        <a:t>, S Jain </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research addresses the significant health impact of diabetes mellitus, emphasizing its metabolic disorder nature and the severe consequences if left untreated. Utilizing machine learning techniques on the Pima Indian diabetes dataset, the study employs six algorithms—Support Vector Machine (SVM), k-Nearest Neighbour (KNN), Gradient Boosting, Decision Tree, Random Forest, and Logistic Regression—to detect patterns and assess risk factors for categorizing patients as diabetic or non-diabetic.</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89999" rtl="0" algn="l">
                        <a:lnSpc>
                          <a:spcPct val="115000"/>
                        </a:lnSpc>
                        <a:spcBef>
                          <a:spcPts val="1500"/>
                        </a:spcBef>
                        <a:spcAft>
                          <a:spcPts val="0"/>
                        </a:spcAft>
                        <a:buClr>
                          <a:schemeClr val="dk1"/>
                        </a:buClr>
                        <a:buSzPts val="1100"/>
                        <a:buNone/>
                      </a:pPr>
                      <a:r>
                        <a:rPr lang="en-IN" sz="1600">
                          <a:latin typeface="Century Schoolbook"/>
                          <a:ea typeface="Century Schoolbook"/>
                          <a:cs typeface="Century Schoolbook"/>
                          <a:sym typeface="Century Schoolbook"/>
                        </a:rPr>
                        <a:t>The abstract lacks specific details on the dataset size, characteristics, and the distribution of diabetic and non-diabetic cases, affecting the comprehensiveness of the study.</a:t>
                      </a:r>
                      <a:endParaRPr sz="1600">
                        <a:latin typeface="Century Schoolbook"/>
                        <a:ea typeface="Century Schoolbook"/>
                        <a:cs typeface="Century Schoolbook"/>
                        <a:sym typeface="Century Schoolbook"/>
                      </a:endParaRPr>
                    </a:p>
                    <a:p>
                      <a:pPr indent="-228600" lvl="0" marL="89999" rtl="0" algn="l">
                        <a:lnSpc>
                          <a:spcPct val="115000"/>
                        </a:lnSpc>
                        <a:spcBef>
                          <a:spcPts val="0"/>
                        </a:spcBef>
                        <a:spcAft>
                          <a:spcPts val="0"/>
                        </a:spcAft>
                        <a:buClr>
                          <a:schemeClr val="dk1"/>
                        </a:buClr>
                        <a:buSzPts val="1100"/>
                        <a:buNone/>
                      </a:pPr>
                      <a:r>
                        <a:rPr lang="en-IN" sz="1600">
                          <a:latin typeface="Century Schoolbook"/>
                          <a:ea typeface="Century Schoolbook"/>
                          <a:cs typeface="Century Schoolbook"/>
                          <a:sym typeface="Century Schoolbook"/>
                        </a:rPr>
                        <a:t>There is a need for additional information on the evaluation metrics used to measure the performance of the machine learning algorithms, providing a more comprehensive understanding of their effectiveness.</a:t>
                      </a:r>
                      <a:endParaRPr sz="1600">
                        <a:latin typeface="Century Schoolbook"/>
                        <a:ea typeface="Century Schoolbook"/>
                        <a:cs typeface="Century Schoolbook"/>
                        <a:sym typeface="Century Schoolbook"/>
                      </a:endParaRPr>
                    </a:p>
                    <a:p>
                      <a:pPr indent="-228600" lvl="0" marL="89999" marR="0" rtl="0" algn="just">
                        <a:lnSpc>
                          <a:spcPct val="100000"/>
                        </a:lnSpc>
                        <a:spcBef>
                          <a:spcPts val="0"/>
                        </a:spcBef>
                        <a:spcAft>
                          <a:spcPts val="0"/>
                        </a:spcAft>
                        <a:buClr>
                          <a:schemeClr val="dk1"/>
                        </a:buClr>
                        <a:buSzPts val="1800"/>
                        <a:buFont typeface="Times New Roman"/>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72" name="Google Shape;172;p27"/>
          <p:cNvGraphicFramePr/>
          <p:nvPr/>
        </p:nvGraphicFramePr>
        <p:xfrm>
          <a:off x="838199" y="12891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109900"/>
                <a:gridCol w="2779275"/>
              </a:tblGrid>
              <a:tr h="347975">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45243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10</a:t>
                      </a:r>
                      <a:endParaRPr/>
                    </a:p>
                  </a:txBody>
                  <a:tcPr marT="45725" marB="45725" marR="91450" marL="91450"/>
                </a:tc>
                <a:tc>
                  <a:txBody>
                    <a:bodyPr/>
                    <a:lstStyle/>
                    <a:p>
                      <a:pPr indent="0" lvl="0" marL="0" marR="3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Diabetes Diagnosis using Machine Learning Algorithms </a:t>
                      </a:r>
                      <a:endParaRPr b="0"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7000"/>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Mitesh Warke1, Vikalp Kumar2</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research emphasizes the global impact of diabetes mellitus (DM) as a chronic and life-threatening disease. Acknowledging its role as a major public health challenge, the study underscores the importance of preventing and diagnosing diabetes at early stages to mitigate associated risks such as heart attacks, blindness, and kidney diseases. The conventional diagnostic process is discussed, highlighting the delays in obtaining reports and the need for more efficient approaches. The research emphasizes the significance of extracting knowledge from medical datasets for effective diagnosis and early prediction of the disease.</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specific details on the methodologies or machine learning techniques employed for disease prediction, which could provide insights into the innovation and reliability of the study.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Additional information on the size and characteristics of the medical datasets used would enhance the understanding of the study's scope and potential applicability.</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78" name="Google Shape;178;p28"/>
          <p:cNvGraphicFramePr/>
          <p:nvPr/>
        </p:nvGraphicFramePr>
        <p:xfrm>
          <a:off x="443299" y="1400725"/>
          <a:ext cx="3000000" cy="3000000"/>
        </p:xfrm>
        <a:graphic>
          <a:graphicData uri="http://schemas.openxmlformats.org/drawingml/2006/table">
            <a:tbl>
              <a:tblPr bandRow="1" firstRow="1">
                <a:noFill/>
                <a:tableStyleId>{3F2FE981-939E-4CBF-B84C-13E51531D1C8}</a:tableStyleId>
              </a:tblPr>
              <a:tblGrid>
                <a:gridCol w="741025"/>
                <a:gridCol w="1731550"/>
                <a:gridCol w="1655525"/>
                <a:gridCol w="4070300"/>
                <a:gridCol w="3107000"/>
              </a:tblGrid>
              <a:tr h="369025">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4798275">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11</a:t>
                      </a:r>
                      <a:endParaRPr/>
                    </a:p>
                  </a:txBody>
                  <a:tcPr marT="45725" marB="45725" marR="91450" marL="91450"/>
                </a:tc>
                <a:tc>
                  <a:txBody>
                    <a:bodyPr/>
                    <a:lstStyle/>
                    <a:p>
                      <a:pPr indent="0" lvl="0" marL="0" rtl="0" algn="l">
                        <a:lnSpc>
                          <a:spcPct val="120000"/>
                        </a:lnSpc>
                        <a:spcBef>
                          <a:spcPts val="0"/>
                        </a:spcBef>
                        <a:spcAft>
                          <a:spcPts val="1200"/>
                        </a:spcAft>
                        <a:buClr>
                          <a:schemeClr val="dk1"/>
                        </a:buClr>
                        <a:buSzPts val="1100"/>
                        <a:buFont typeface="Arial"/>
                        <a:buNone/>
                      </a:pPr>
                      <a:r>
                        <a:rPr lang="en-IN" sz="1600">
                          <a:latin typeface="Century Schoolbook"/>
                          <a:ea typeface="Century Schoolbook"/>
                          <a:cs typeface="Century Schoolbook"/>
                          <a:sym typeface="Century Schoolbook"/>
                        </a:rPr>
                        <a:t>Early detection of type 2 diabetes mellitus using machine learning-based prediction models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15000"/>
                        </a:lnSpc>
                        <a:spcBef>
                          <a:spcPts val="0"/>
                        </a:spcBef>
                        <a:spcAft>
                          <a:spcPts val="0"/>
                        </a:spcAft>
                        <a:buClr>
                          <a:srgbClr val="222222"/>
                        </a:buClr>
                        <a:buSzPts val="1200"/>
                        <a:buFont typeface="Roboto"/>
                        <a:buNone/>
                      </a:pPr>
                      <a:r>
                        <a:rPr lang="en-IN" sz="1600">
                          <a:uFill>
                            <a:noFill/>
                          </a:uFill>
                          <a:latin typeface="Century Schoolbook"/>
                          <a:ea typeface="Century Schoolbook"/>
                          <a:cs typeface="Century Schoolbook"/>
                          <a:sym typeface="Century Schoolbook"/>
                          <a:hlinkClick r:id="rId3"/>
                        </a:rPr>
                        <a:t>Leon Kopitar</a:t>
                      </a:r>
                      <a:r>
                        <a:rPr lang="en-IN" sz="1600">
                          <a:latin typeface="Century Schoolbook"/>
                          <a:ea typeface="Century Schoolbook"/>
                          <a:cs typeface="Century Schoolbook"/>
                          <a:sym typeface="Century Schoolbook"/>
                        </a:rPr>
                        <a:t>, Primoz Kocbek, </a:t>
                      </a:r>
                      <a:endParaRPr sz="1600">
                        <a:latin typeface="Century Schoolbook"/>
                        <a:ea typeface="Century Schoolbook"/>
                        <a:cs typeface="Century Schoolbook"/>
                        <a:sym typeface="Century Schoolbook"/>
                      </a:endParaRPr>
                    </a:p>
                    <a:p>
                      <a:pPr indent="0" lvl="0" marL="0" rtl="0" algn="l">
                        <a:lnSpc>
                          <a:spcPct val="115000"/>
                        </a:lnSpc>
                        <a:spcBef>
                          <a:spcPts val="0"/>
                        </a:spcBef>
                        <a:spcAft>
                          <a:spcPts val="0"/>
                        </a:spcAft>
                        <a:buClr>
                          <a:srgbClr val="222222"/>
                        </a:buClr>
                        <a:buSzPts val="1200"/>
                        <a:buFont typeface="Roboto"/>
                        <a:buNone/>
                      </a:pPr>
                      <a:r>
                        <a:rPr lang="en-IN" sz="1600">
                          <a:latin typeface="Century Schoolbook"/>
                          <a:ea typeface="Century Schoolbook"/>
                          <a:cs typeface="Century Schoolbook"/>
                          <a:sym typeface="Century Schoolbook"/>
                        </a:rPr>
                        <a:t>Leona Cilar</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assesses the effectiveness of machine learning-based prediction models, including Glmnet, RF, XGBoost, and LightGBM, in comparison to traditional regression models for predicting undiagnosed Type 2 Diabetes Mellitus (T2DM). Utilizing electronically collected data, the research aims to determine the accuracy and stability of these models over time. The performance is evaluated in terms of predicting fasting plasma glucose levels, with a focus on the continuous updating ability of machine learning approaches. The study emphasizes the importance of interpretability and model calibration in the development of clinical prediction models.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provides insights into the comparison of prediction models but lacks specific details on the characteristics and size of the datasets used, limiting a comprehensive understanding of the study.</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While the research highlights the stability of variable selection over time with LightGBM models, it does not delve into the practical implications of this stability on clinical applications or decision-making processes.</a:t>
                      </a:r>
                      <a:endParaRPr sz="1600">
                        <a:latin typeface="Century Schoolbook"/>
                        <a:ea typeface="Century Schoolbook"/>
                        <a:cs typeface="Century Schoolbook"/>
                        <a:sym typeface="Century Schoolbook"/>
                      </a:endParaRPr>
                    </a:p>
                    <a:p>
                      <a:pPr indent="-22860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84" name="Google Shape;184;p29"/>
          <p:cNvGraphicFramePr/>
          <p:nvPr/>
        </p:nvGraphicFramePr>
        <p:xfrm>
          <a:off x="268375" y="1371713"/>
          <a:ext cx="3000000" cy="3000000"/>
        </p:xfrm>
        <a:graphic>
          <a:graphicData uri="http://schemas.openxmlformats.org/drawingml/2006/table">
            <a:tbl>
              <a:tblPr bandRow="1" firstRow="1">
                <a:noFill/>
                <a:tableStyleId>{3F2FE981-939E-4CBF-B84C-13E51531D1C8}</a:tableStyleId>
              </a:tblPr>
              <a:tblGrid>
                <a:gridCol w="761650"/>
                <a:gridCol w="1779750"/>
                <a:gridCol w="1701600"/>
                <a:gridCol w="4575575"/>
                <a:gridCol w="2801450"/>
              </a:tblGrid>
              <a:tr h="3217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4670075">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12</a:t>
                      </a:r>
                      <a:endParaRPr/>
                    </a:p>
                  </a:txBody>
                  <a:tcPr marT="45725" marB="45725" marR="91450" marL="91450"/>
                </a:tc>
                <a:tc>
                  <a:txBody>
                    <a:bodyPr/>
                    <a:lstStyle/>
                    <a:p>
                      <a:pPr indent="0" lvl="0" marL="0" marR="12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A survey on medical diagnosis of diabetes using machine learning techniques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A Choudhury, D Gupta </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research emphasizes the critical role of disease prediction, particularly in medical diagnosis software, and highlights the successful integration of machine learning techniques in various applications, including healthcare. The study aims to address health-related challenges by developing a classifier system, leveraging machine learning algorithms to assist physicians in early-stage disease prediction and diagnosis. The focus is on enhancing the speed, performance, reliability, and accuracy of disease diagnosis through the implementation of machine learning classification algorithms. The paper specifically reviews the application of machine learning techniques for detecting diabetes, utilizing the PIMA Indian Diabetic dataset. </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chemeClr val="dk1"/>
                        </a:buClr>
                        <a:buSzPts val="1100"/>
                        <a:buNone/>
                      </a:pPr>
                      <a:r>
                        <a:rPr lang="en-IN" sz="1600">
                          <a:latin typeface="Century Schoolbook"/>
                          <a:ea typeface="Century Schoolbook"/>
                          <a:cs typeface="Century Schoolbook"/>
                          <a:sym typeface="Century Schoolbook"/>
                        </a:rPr>
                        <a:t>The abstract lacks specific details on the dataset size, characteristics, and any potential biases, limiting a comprehensive evaluation of the study's findings.</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chemeClr val="dk1"/>
                        </a:buClr>
                        <a:buSzPts val="1100"/>
                        <a:buNone/>
                      </a:pPr>
                      <a:r>
                        <a:rPr lang="en-IN" sz="1600">
                          <a:latin typeface="Century Schoolbook"/>
                          <a:ea typeface="Century Schoolbook"/>
                          <a:cs typeface="Century Schoolbook"/>
                          <a:sym typeface="Century Schoolbook"/>
                        </a:rPr>
                        <a:t>While the paper discusses multiple machine learning algorithms, it does not provide insights into the interpretability of these models, which is crucial for clinical applications.</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90" name="Google Shape;190;p30"/>
          <p:cNvGraphicFramePr/>
          <p:nvPr/>
        </p:nvGraphicFramePr>
        <p:xfrm>
          <a:off x="838199" y="13181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3877925"/>
                <a:gridCol w="301125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13</a:t>
                      </a:r>
                      <a:endParaRPr/>
                    </a:p>
                  </a:txBody>
                  <a:tcPr marT="45725" marB="45725" marR="91450" marL="91450"/>
                </a:tc>
                <a:tc>
                  <a:txBody>
                    <a:bodyPr/>
                    <a:lstStyle/>
                    <a:p>
                      <a:pPr indent="0" lvl="0" marL="0" marR="12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 A survey: detection and prediction of diabetes using machine learning techniques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P Indoria, YK Rathore</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paper addresses diabetes as a leading cause of severe health complications, including blindness, kidney failure, amputations, heart failure, and stroke. It explains the normal process of the body turning food into glucose and the role of insulin in facilitating glucose entry into cells for energy. The onset of diabetes occurs when this system malfunctions. The document emphasizes the two common types of diabetes, type 1 and type 2, along with other forms like gestational diabetes. The primary focus is on recent advancements in machine learning that have significantly influenced the detection and diagnosis of diabetes.</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chemeClr val="dk1"/>
                        </a:buClr>
                        <a:buSzPts val="1100"/>
                        <a:buNone/>
                      </a:pPr>
                      <a:r>
                        <a:rPr lang="en-IN" sz="1600">
                          <a:latin typeface="Century Schoolbook"/>
                          <a:ea typeface="Century Schoolbook"/>
                          <a:cs typeface="Century Schoolbook"/>
                          <a:sym typeface="Century Schoolbook"/>
                        </a:rPr>
                        <a:t>The abstract lacks specific details about the machine learning techniques discussed, making it challenging to understand the depth of the research and the specific methodologies employed.</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chemeClr val="dk1"/>
                        </a:buClr>
                        <a:buSzPts val="1100"/>
                        <a:buNone/>
                      </a:pPr>
                      <a:r>
                        <a:rPr lang="en-IN" sz="1600">
                          <a:latin typeface="Century Schoolbook"/>
                          <a:ea typeface="Century Schoolbook"/>
                          <a:cs typeface="Century Schoolbook"/>
                          <a:sym typeface="Century Schoolbook"/>
                        </a:rPr>
                        <a:t>The paper doesn't provide insights into the datasets used or the scale of the study, which limits the ability to assess the generalizability of the findings.</a:t>
                      </a:r>
                      <a:endParaRPr sz="1600">
                        <a:latin typeface="Century Schoolbook"/>
                        <a:ea typeface="Century Schoolbook"/>
                        <a:cs typeface="Century Schoolbook"/>
                        <a:sym typeface="Century Schoolbook"/>
                      </a:endParaRPr>
                    </a:p>
                    <a:p>
                      <a:pPr indent="-22860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196" name="Google Shape;196;p31"/>
          <p:cNvGraphicFramePr/>
          <p:nvPr/>
        </p:nvGraphicFramePr>
        <p:xfrm>
          <a:off x="670211" y="1289150"/>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312900"/>
                <a:gridCol w="257627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14</a:t>
                      </a:r>
                      <a:endParaRPr/>
                    </a:p>
                  </a:txBody>
                  <a:tcPr marT="45725" marB="45725" marR="91450" marL="91450"/>
                </a:tc>
                <a:tc>
                  <a:txBody>
                    <a:bodyPr/>
                    <a:lstStyle/>
                    <a:p>
                      <a:pPr indent="0" lvl="0" marL="0" marR="12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Diagnosis of diabetes using machine learning algorithms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800"/>
                        </a:spcBef>
                        <a:spcAft>
                          <a:spcPts val="0"/>
                        </a:spcAft>
                        <a:buClr>
                          <a:schemeClr val="dk1"/>
                        </a:buClr>
                        <a:buSzPts val="1400"/>
                        <a:buFont typeface="Century Schoolbook"/>
                        <a:buNone/>
                      </a:pPr>
                      <a:r>
                        <a:rPr lang="en-IN" sz="1600">
                          <a:latin typeface="Century Schoolbook"/>
                          <a:ea typeface="Century Schoolbook"/>
                          <a:cs typeface="Century Schoolbook"/>
                          <a:sym typeface="Century Schoolbook"/>
                        </a:rPr>
                        <a:t>FA Khaleel, AM Al-Bakry </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paper explores the application of machine learning algorithms for predicting type-2 diabetes mellitus, considering various attributes related to the disease. The study employs classifiers such as logistic regression, XGBoost, gradient boosting, decision trees, ExtraTrees, random forest, and light gradient boosting machine (LGBM). The PIMA Indian Dataset from the UC Irvine Repository serves as the dataset for analysis. The primary objective is to construct a predictive model for accurate diabetes prediction.</a:t>
                      </a:r>
                      <a:endParaRPr sz="1600">
                        <a:latin typeface="Century Schoolbook"/>
                        <a:ea typeface="Century Schoolbook"/>
                        <a:cs typeface="Century Schoolbook"/>
                        <a:sym typeface="Century Schoolbook"/>
                      </a:endParaRPr>
                    </a:p>
                  </a:txBody>
                  <a:tcPr marT="45725" marB="45725" marR="91450" marL="91450"/>
                </a:tc>
                <a:tc>
                  <a:txBody>
                    <a:bodyPr/>
                    <a:lstStyle/>
                    <a:p>
                      <a:pPr indent="-228600" lvl="0" marL="0" rtl="0" algn="l">
                        <a:lnSpc>
                          <a:spcPct val="115000"/>
                        </a:lnSpc>
                        <a:spcBef>
                          <a:spcPts val="1500"/>
                        </a:spcBef>
                        <a:spcAft>
                          <a:spcPts val="0"/>
                        </a:spcAft>
                        <a:buClr>
                          <a:srgbClr val="374151"/>
                        </a:buClr>
                        <a:buSzPts val="1200"/>
                        <a:buNone/>
                      </a:pPr>
                      <a:r>
                        <a:rPr lang="en-IN" sz="1600">
                          <a:latin typeface="Century Schoolbook"/>
                          <a:ea typeface="Century Schoolbook"/>
                          <a:cs typeface="Century Schoolbook"/>
                          <a:sym typeface="Century Schoolbook"/>
                        </a:rPr>
                        <a:t>The abstract lacks information on the size and diversity of the dataset, raising concerns about the generalizability of the findings to broader populations.</a:t>
                      </a:r>
                      <a:endParaRPr sz="1600">
                        <a:latin typeface="Century Schoolbook"/>
                        <a:ea typeface="Century Schoolbook"/>
                        <a:cs typeface="Century Schoolbook"/>
                        <a:sym typeface="Century Schoolbook"/>
                      </a:endParaRPr>
                    </a:p>
                    <a:p>
                      <a:pPr indent="-228600" lvl="0" marL="0" rtl="0" algn="l">
                        <a:lnSpc>
                          <a:spcPct val="115000"/>
                        </a:lnSpc>
                        <a:spcBef>
                          <a:spcPts val="0"/>
                        </a:spcBef>
                        <a:spcAft>
                          <a:spcPts val="0"/>
                        </a:spcAft>
                        <a:buClr>
                          <a:srgbClr val="374151"/>
                        </a:buClr>
                        <a:buSzPts val="1200"/>
                        <a:buNone/>
                      </a:pPr>
                      <a:r>
                        <a:rPr lang="en-IN" sz="1600">
                          <a:latin typeface="Century Schoolbook"/>
                          <a:ea typeface="Century Schoolbook"/>
                          <a:cs typeface="Century Schoolbook"/>
                          <a:sym typeface="Century Schoolbook"/>
                        </a:rPr>
                        <a:t>Specific details about the features or attributes considered in the analysis are not provided, making it challenging to assess the comprehensiveness of the predictive model.</a:t>
                      </a:r>
                      <a:endParaRPr sz="1600">
                        <a:latin typeface="Century Schoolbook"/>
                        <a:ea typeface="Century Schoolbook"/>
                        <a:cs typeface="Century Schoolbook"/>
                        <a:sym typeface="Century Schoolbook"/>
                      </a:endParaRPr>
                    </a:p>
                    <a:p>
                      <a:pPr indent="0" lvl="0" marL="0" marR="0" rtl="0" algn="just">
                        <a:spcBef>
                          <a:spcPts val="0"/>
                        </a:spcBef>
                        <a:spcAft>
                          <a:spcPts val="0"/>
                        </a:spcAft>
                        <a:buNone/>
                      </a:pPr>
                      <a:r>
                        <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02" name="Google Shape;202;p32"/>
          <p:cNvGraphicFramePr/>
          <p:nvPr/>
        </p:nvGraphicFramePr>
        <p:xfrm>
          <a:off x="838199" y="1825625"/>
          <a:ext cx="3000000" cy="3000000"/>
        </p:xfrm>
        <a:graphic>
          <a:graphicData uri="http://schemas.openxmlformats.org/drawingml/2006/table">
            <a:tbl>
              <a:tblPr bandRow="1" firstRow="1">
                <a:noFill/>
                <a:tableStyleId>{3F2FE981-939E-4CBF-B84C-13E51531D1C8}</a:tableStyleId>
              </a:tblPr>
              <a:tblGrid>
                <a:gridCol w="711275"/>
                <a:gridCol w="1662050"/>
                <a:gridCol w="1589075"/>
                <a:gridCol w="4718850"/>
                <a:gridCol w="217032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15</a:t>
                      </a:r>
                      <a:endParaRPr/>
                    </a:p>
                  </a:txBody>
                  <a:tcPr marT="45725" marB="45725" marR="91450" marL="91450"/>
                </a:tc>
                <a:tc>
                  <a:txBody>
                    <a:bodyPr/>
                    <a:lstStyle/>
                    <a:p>
                      <a:pPr indent="0" lvl="0" marL="0" marR="38892" rtl="0" algn="l">
                        <a:lnSpc>
                          <a:spcPct val="109615"/>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Diagnosis and classification of the diabetes using machine learning algorithms</a:t>
                      </a:r>
                      <a:endParaRPr sz="1600">
                        <a:latin typeface="Century Schoolbook"/>
                        <a:ea typeface="Century Schoolbook"/>
                        <a:cs typeface="Century Schoolbook"/>
                        <a:sym typeface="Century Schoolbook"/>
                      </a:endParaRPr>
                    </a:p>
                    <a:p>
                      <a:pPr indent="0" lvl="0" marL="0" marR="0" rtl="0" algn="just">
                        <a:lnSpc>
                          <a:spcPct val="100000"/>
                        </a:lnSpc>
                        <a:spcBef>
                          <a:spcPts val="200"/>
                        </a:spcBef>
                        <a:spcAft>
                          <a:spcPts val="0"/>
                        </a:spcAft>
                        <a:buClr>
                          <a:schemeClr val="dk1"/>
                        </a:buClr>
                        <a:buSzPts val="1800"/>
                        <a:buFont typeface="Times New Roman"/>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P Theerthagiri</a:t>
                      </a:r>
                      <a:r>
                        <a:rPr lang="en-IN" sz="1600">
                          <a:latin typeface="Century Schoolbook"/>
                          <a:ea typeface="Century Schoolbook"/>
                          <a:cs typeface="Century Schoolbook"/>
                          <a:sym typeface="Century Schoolbook"/>
                        </a:rPr>
                        <a:t>, AU Ruby</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paper investigates the application of machine learning, employing traditional classification algorithms and neural networks, to diagnose and predict diabetes. The study comprehensively assesses the performance of various algorithms, with the multilayer perceptron algorithm emerging as the most accurate predictor, achieving a low mean squared error (MSE) of 0.19 and exhibiting superior metrics such as low false positive/negative rates and a high area under the curve (AUC)</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lacks information on the dataset's size and diversity, and specific details about the features considered are not provided, limiting the generalizability and comprehensiveness of the predictive model.</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08" name="Google Shape;208;p33"/>
          <p:cNvGraphicFramePr/>
          <p:nvPr/>
        </p:nvGraphicFramePr>
        <p:xfrm>
          <a:off x="514874" y="1215200"/>
          <a:ext cx="3000000" cy="3000000"/>
        </p:xfrm>
        <a:graphic>
          <a:graphicData uri="http://schemas.openxmlformats.org/drawingml/2006/table">
            <a:tbl>
              <a:tblPr bandRow="1" firstRow="1">
                <a:noFill/>
                <a:tableStyleId>{3F2FE981-939E-4CBF-B84C-13E51531D1C8}</a:tableStyleId>
              </a:tblPr>
              <a:tblGrid>
                <a:gridCol w="732475"/>
                <a:gridCol w="1711575"/>
                <a:gridCol w="1636425"/>
                <a:gridCol w="4874375"/>
                <a:gridCol w="2220050"/>
              </a:tblGrid>
              <a:tr h="39300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4748375">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16</a:t>
                      </a:r>
                      <a:endParaRPr/>
                    </a:p>
                  </a:txBody>
                  <a:tcPr marT="45725" marB="45725" marR="91450" marL="91450"/>
                </a:tc>
                <a:tc>
                  <a:txBody>
                    <a:bodyPr/>
                    <a:lstStyle/>
                    <a:p>
                      <a:pPr indent="0" lvl="0" marL="0" marR="3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Machine learning and data mining methods in diabetes research</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I Kavakiotis</a:t>
                      </a:r>
                      <a:r>
                        <a:rPr lang="en-IN" sz="1600">
                          <a:latin typeface="Century Schoolbook"/>
                          <a:ea typeface="Century Schoolbook"/>
                          <a:cs typeface="Century Schoolbook"/>
                          <a:sym typeface="Century Schoolbook"/>
                        </a:rPr>
                        <a:t>, O Tsave,</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conducts a systematic review of machine learning and data mining applications in diabetes research, focusing on prediction, diagnosis, diabetic complications, genetic background, environmental factors, and healthcare management. The extensive data generated from various aspects of diabetes, including diagnosis, etiopathophysiology, and therapy, presents a significant opportunity for intelligent transformation into valuable knowledge. Supervised learning approaches, particularly support vector machines (SVM), dominate the field, with clinical datasets being the primary data source. The study highlights the usefulness of these techniques in extracting valuable knowledge, fostering deeper understanding and suggesting avenues for further investigation in diabetes mellitus.</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doesn't specify the number of studies analyzed or the publication sources, which could impact the review's comprehensiveness and credibility. Additionally, it lacks insights into potential challenges or limitations faced in applying machine learning to diabetes research, providing a more balanced perspective on the field.</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14" name="Google Shape;214;p34"/>
          <p:cNvGraphicFramePr/>
          <p:nvPr/>
        </p:nvGraphicFramePr>
        <p:xfrm>
          <a:off x="514849" y="1318175"/>
          <a:ext cx="3000000" cy="3000000"/>
        </p:xfrm>
        <a:graphic>
          <a:graphicData uri="http://schemas.openxmlformats.org/drawingml/2006/table">
            <a:tbl>
              <a:tblPr bandRow="1" firstRow="1">
                <a:noFill/>
                <a:tableStyleId>{3F2FE981-939E-4CBF-B84C-13E51531D1C8}</a:tableStyleId>
              </a:tblPr>
              <a:tblGrid>
                <a:gridCol w="732475"/>
                <a:gridCol w="1711575"/>
                <a:gridCol w="1636425"/>
                <a:gridCol w="4650425"/>
                <a:gridCol w="244402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17</a:t>
                      </a:r>
                      <a:endParaRPr/>
                    </a:p>
                  </a:txBody>
                  <a:tcPr marT="45725" marB="45725" marR="91450" marL="91450"/>
                </a:tc>
                <a:tc>
                  <a:txBody>
                    <a:bodyPr/>
                    <a:lstStyle/>
                    <a:p>
                      <a:pPr indent="0" lvl="0" marL="0" marR="3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Analysis and prediction of diabetes using machine learning</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S Saru, S Subashree </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focuses on utilizing machine learning techniques, specifically data mining, for predicting and diagnosing Diabetes Mellitus. Acknowledging the vast and sensitive healthcare data, the goal is to extract valuable information by applying data mining techniques to large datasets. Diabetes, with its severe complications, necessitates efficient data mining approaches for classification. The research employs medical bioinformatics analysis, utilizing the WEKA software for diabetes prediction. The Pima Indian diabetes database from the UCI repository serves as the dataset. The study aims to enhance accuracy through bootstrapping resampling and compares the performance of Naïve Bayes, Decision Trees, and KNN algorithms.</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lacks specific details about the size and characteristics of the dataset, which could impact the generalizability of the results. Additionally, it doesn't discuss potential challenges or limitations in implementing data mining techniques for diabetes prediction, providing a more comprehensive understanding of the study's context.</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20" name="Google Shape;220;p35"/>
          <p:cNvGraphicFramePr/>
          <p:nvPr/>
        </p:nvGraphicFramePr>
        <p:xfrm>
          <a:off x="184474" y="1260175"/>
          <a:ext cx="3000000" cy="3000000"/>
        </p:xfrm>
        <a:graphic>
          <a:graphicData uri="http://schemas.openxmlformats.org/drawingml/2006/table">
            <a:tbl>
              <a:tblPr bandRow="1" firstRow="1">
                <a:noFill/>
                <a:tableStyleId>{3F2FE981-939E-4CBF-B84C-13E51531D1C8}</a:tableStyleId>
              </a:tblPr>
              <a:tblGrid>
                <a:gridCol w="774950"/>
                <a:gridCol w="1810850"/>
                <a:gridCol w="1731350"/>
                <a:gridCol w="4590300"/>
                <a:gridCol w="2915600"/>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18</a:t>
                      </a:r>
                      <a:endParaRPr/>
                    </a:p>
                  </a:txBody>
                  <a:tcPr marT="45725" marB="45725" marR="91450" marL="91450"/>
                </a:tc>
                <a:tc>
                  <a:txBody>
                    <a:bodyPr/>
                    <a:lstStyle/>
                    <a:p>
                      <a:pPr indent="0" lvl="0" marL="0" marR="0"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Predicting diabetes mellitus with machine learning techniques</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Q Zou</a:t>
                      </a:r>
                      <a:r>
                        <a:rPr lang="en-IN" sz="1600">
                          <a:latin typeface="Century Schoolbook"/>
                          <a:ea typeface="Century Schoolbook"/>
                          <a:cs typeface="Century Schoolbook"/>
                          <a:sym typeface="Century Schoolbook"/>
                        </a:rPr>
                        <a:t>, K Qu, Y Luo, D Yin</a:t>
                      </a:r>
                      <a:endParaRPr b="0" i="0" sz="1800" u="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study addresses the increasing global prevalence of diabetes mellitus, projecting a significant rise in diabetic patients by 2040. Leveraging machine learning techniques, specifically decision tree, random forest, and neural network models, the research focuses on predicting diabetes using hospital physical examination data from Luzhou, China, comprising 14 attributes. The study employs five-fold cross-validation to evaluate model performance and conducts independent test experiments to validate the methods' universal applicability. Data preprocessing involves dimensionality reduction using principal component analysis (PCA) and minimum redundancy maximum relevance (mRMR). Notably, random forest demonstrates the highest prediction accuracy (ACC = 0.8084) when considering all attributes.</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lacks detailed insights into potential challenges or limitations faced during the study, such as issues related to data unbalance or the choice of specific machine learning algorithms. Additionally, it doesn't provide information on the characteristics of the dataset, potentially affecting the external validity of the findings.</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26" name="Google Shape;226;p36"/>
          <p:cNvGraphicFramePr/>
          <p:nvPr/>
        </p:nvGraphicFramePr>
        <p:xfrm>
          <a:off x="558799" y="1216025"/>
          <a:ext cx="3000000" cy="3000000"/>
        </p:xfrm>
        <a:graphic>
          <a:graphicData uri="http://schemas.openxmlformats.org/drawingml/2006/table">
            <a:tbl>
              <a:tblPr bandRow="1" firstRow="1">
                <a:noFill/>
                <a:tableStyleId>{3F2FE981-939E-4CBF-B84C-13E51531D1C8}</a:tableStyleId>
              </a:tblPr>
              <a:tblGrid>
                <a:gridCol w="743300"/>
                <a:gridCol w="1736875"/>
                <a:gridCol w="1660625"/>
                <a:gridCol w="4612350"/>
                <a:gridCol w="258702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19</a:t>
                      </a:r>
                      <a:endParaRPr/>
                    </a:p>
                  </a:txBody>
                  <a:tcPr marT="45725" marB="45725" marR="91450" marL="91450"/>
                </a:tc>
                <a:tc>
                  <a:txBody>
                    <a:bodyPr/>
                    <a:lstStyle/>
                    <a:p>
                      <a:pPr indent="0" lvl="0" marL="0" marR="38892" rtl="0" algn="l">
                        <a:lnSpc>
                          <a:spcPct val="109615"/>
                        </a:lnSpc>
                        <a:spcBef>
                          <a:spcPts val="0"/>
                        </a:spcBef>
                        <a:spcAft>
                          <a:spcPts val="200"/>
                        </a:spcAft>
                        <a:buClr>
                          <a:schemeClr val="dk1"/>
                        </a:buClr>
                        <a:buSzPts val="1100"/>
                        <a:buFont typeface="Arial"/>
                        <a:buNone/>
                      </a:pPr>
                      <a:r>
                        <a:rPr lang="en-IN" sz="1600">
                          <a:latin typeface="Century Schoolbook"/>
                          <a:ea typeface="Century Schoolbook"/>
                          <a:cs typeface="Century Schoolbook"/>
                          <a:sym typeface="Century Schoolbook"/>
                        </a:rPr>
                        <a:t>Prediction and Detection of Diabetes using Machine Learning.</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uFill>
                            <a:noFill/>
                          </a:uFill>
                          <a:latin typeface="Century Schoolbook"/>
                          <a:ea typeface="Century Schoolbook"/>
                          <a:cs typeface="Century Schoolbook"/>
                          <a:sym typeface="Century Schoolbook"/>
                          <a:hlinkClick r:id="rId3"/>
                        </a:rPr>
                        <a:t>O Llaha</a:t>
                      </a:r>
                      <a:r>
                        <a:rPr lang="en-IN" sz="1600">
                          <a:latin typeface="Century Schoolbook"/>
                          <a:ea typeface="Century Schoolbook"/>
                          <a:cs typeface="Century Schoolbook"/>
                          <a:sym typeface="Century Schoolbook"/>
                        </a:rPr>
                        <a:t>, </a:t>
                      </a:r>
                      <a:r>
                        <a:rPr lang="en-IN" sz="1600">
                          <a:uFill>
                            <a:noFill/>
                          </a:uFill>
                          <a:latin typeface="Century Schoolbook"/>
                          <a:ea typeface="Century Schoolbook"/>
                          <a:cs typeface="Century Schoolbook"/>
                          <a:sym typeface="Century Schoolbook"/>
                          <a:hlinkClick r:id="rId4"/>
                        </a:rPr>
                        <a:t>A Rista</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paper focuses on the application of data mining and machine learning methods for the analysis and prevention of diabetes. The study evaluates various data mining methods, including Decision Tree, by comparing their theoretical and practical effectiveness. The dataset comprises attributes such as Age, Body Mass Index, Insulin, and Glucose. Performance measures like the number of correctly classified instances, accuracy, precision, recall, and F-measure are used to assess the effectiveness of these methods. The findings highlight Decision Tree as the method with higher performance, demonstrating its capability in analyzing and preventing diabetes.</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lacks specific details on the size and characteristics of the dataset, making it challenging to assess the generalizability of the findings. Additionally, the paper could benefit from discussing potential limitations or challenges encountered during the evaluation of data mining methods, providing a more comprehensive understanding of the study's scope.</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838200" y="1186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LITERATURE SURVEY</a:t>
            </a:r>
            <a:br>
              <a:rPr lang="en-IN"/>
            </a:br>
            <a:endParaRPr/>
          </a:p>
        </p:txBody>
      </p:sp>
      <p:graphicFrame>
        <p:nvGraphicFramePr>
          <p:cNvPr id="232" name="Google Shape;232;p37"/>
          <p:cNvGraphicFramePr/>
          <p:nvPr/>
        </p:nvGraphicFramePr>
        <p:xfrm>
          <a:off x="323849" y="955650"/>
          <a:ext cx="3000000" cy="3000000"/>
        </p:xfrm>
        <a:graphic>
          <a:graphicData uri="http://schemas.openxmlformats.org/drawingml/2006/table">
            <a:tbl>
              <a:tblPr bandRow="1" firstRow="1">
                <a:noFill/>
                <a:tableStyleId>{3F2FE981-939E-4CBF-B84C-13E51531D1C8}</a:tableStyleId>
              </a:tblPr>
              <a:tblGrid>
                <a:gridCol w="756900"/>
                <a:gridCol w="1768650"/>
                <a:gridCol w="1691000"/>
                <a:gridCol w="4496925"/>
                <a:gridCol w="2834075"/>
              </a:tblGrid>
              <a:tr h="370850">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S.NO</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TITLE</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AUTHOR/YEAR</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DESCRIPTION</a:t>
                      </a:r>
                      <a:endParaRPr/>
                    </a:p>
                  </a:txBody>
                  <a:tcPr marT="45725" marB="45725" marR="91450" marL="91450"/>
                </a:tc>
                <a:tc>
                  <a:txBody>
                    <a:bodyPr/>
                    <a:lstStyle/>
                    <a:p>
                      <a:pPr indent="0" lvl="0" marL="0" marR="0" rtl="0" algn="l">
                        <a:spcBef>
                          <a:spcPts val="0"/>
                        </a:spcBef>
                        <a:spcAft>
                          <a:spcPts val="0"/>
                        </a:spcAft>
                        <a:buNone/>
                      </a:pPr>
                      <a:r>
                        <a:rPr lang="en-IN" sz="1400">
                          <a:latin typeface="Times New Roman"/>
                          <a:ea typeface="Times New Roman"/>
                          <a:cs typeface="Times New Roman"/>
                          <a:sym typeface="Times New Roman"/>
                        </a:rPr>
                        <a:t>LIMITATIONS</a:t>
                      </a:r>
                      <a:endParaRPr/>
                    </a:p>
                  </a:txBody>
                  <a:tcPr marT="45725" marB="45725" marR="91450" marL="91450"/>
                </a:tc>
              </a:tr>
              <a:tr h="37085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20</a:t>
                      </a:r>
                      <a:endParaRPr/>
                    </a:p>
                  </a:txBody>
                  <a:tcPr marT="45725" marB="45725" marR="91450" marL="91450"/>
                </a:tc>
                <a:tc>
                  <a:txBody>
                    <a:bodyPr/>
                    <a:lstStyle/>
                    <a:p>
                      <a:pPr indent="0" lvl="0" marL="0" marR="38892" rtl="0" algn="l">
                        <a:lnSpc>
                          <a:spcPct val="109615"/>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Designing a model to detect diabetes using machine learning</a:t>
                      </a:r>
                      <a:endParaRPr/>
                    </a:p>
                    <a:p>
                      <a:pPr indent="0" lvl="0" marL="0" marR="0" rtl="0" algn="just">
                        <a:spcBef>
                          <a:spcPts val="200"/>
                        </a:spcBef>
                        <a:spcAft>
                          <a:spcPts val="0"/>
                        </a:spcAft>
                        <a:buNone/>
                      </a:pPr>
                      <a:r>
                        <a:t/>
                      </a:r>
                      <a:endParaRPr b="0" sz="1800">
                        <a:latin typeface="Times New Roman"/>
                        <a:ea typeface="Times New Roman"/>
                        <a:cs typeface="Times New Roman"/>
                        <a:sym typeface="Times New Roman"/>
                      </a:endParaRPr>
                    </a:p>
                  </a:txBody>
                  <a:tcPr marT="45725" marB="45725" marR="91450" marL="91450"/>
                </a:tc>
                <a:tc>
                  <a:txBody>
                    <a:bodyPr/>
                    <a:lstStyle/>
                    <a:p>
                      <a:pPr indent="0" lvl="0" marL="0" rtl="0" algn="l">
                        <a:lnSpc>
                          <a:spcPct val="107000"/>
                        </a:lnSpc>
                        <a:spcBef>
                          <a:spcPts val="0"/>
                        </a:spcBef>
                        <a:spcAft>
                          <a:spcPts val="0"/>
                        </a:spcAft>
                        <a:buClr>
                          <a:schemeClr val="dk1"/>
                        </a:buClr>
                        <a:buSzPts val="1100"/>
                        <a:buFont typeface="Arial"/>
                        <a:buNone/>
                      </a:pPr>
                      <a:r>
                        <a:rPr lang="en-IN" sz="1600">
                          <a:latin typeface="Century Schoolbook"/>
                          <a:ea typeface="Century Schoolbook"/>
                          <a:cs typeface="Century Schoolbook"/>
                          <a:sym typeface="Century Schoolbook"/>
                        </a:rPr>
                        <a:t>MK Patil, SD Sawarkar</a:t>
                      </a:r>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This paper delves into the significant applications of machine learning in medical organizations, particularly in the healthcare sector. The rapid adoption of machine learning in healthcare has led to predictions and analyses for medical datasets, aiding in disease prevention and patient care. The focus is on developing decision support systems for disease prediction using various methods applied to medical datasets. The paper provides an overview of machine learning, discusses types of algorithms for decision-making and prediction, and emphasizes applications in medicine, with a specific focus on predicting diabetes through machine learning. Given the rising prevalence of diabetes worldwide, early prediction becomes crucial for effective management.</a:t>
                      </a:r>
                      <a:endParaRPr sz="1600">
                        <a:latin typeface="Century Schoolbook"/>
                        <a:ea typeface="Century Schoolbook"/>
                        <a:cs typeface="Century Schoolbook"/>
                        <a:sym typeface="Century Schoolbook"/>
                      </a:endParaRPr>
                    </a:p>
                  </a:txBody>
                  <a:tcPr marT="45725" marB="45725" marR="91450" marL="91450"/>
                </a:tc>
                <a:tc>
                  <a:txBody>
                    <a:bodyPr/>
                    <a:lstStyle/>
                    <a:p>
                      <a:pPr indent="0" lvl="0" marL="0" marR="0" rtl="0" algn="just">
                        <a:spcBef>
                          <a:spcPts val="0"/>
                        </a:spcBef>
                        <a:spcAft>
                          <a:spcPts val="0"/>
                        </a:spcAft>
                        <a:buNone/>
                      </a:pPr>
                      <a:r>
                        <a:rPr lang="en-IN" sz="1600">
                          <a:latin typeface="Century Schoolbook"/>
                          <a:ea typeface="Century Schoolbook"/>
                          <a:cs typeface="Century Schoolbook"/>
                          <a:sym typeface="Century Schoolbook"/>
                        </a:rPr>
                        <a:t>The abstract lacks specific details on the machine learning algorithms discussed and the size and diversity of the medical datasets considered. Providing concrete examples of algorithms and datasets would enhance the clarity and applicability of the findings. Additionally, the paper could briefly mention any challenges or limitations encountered in applying machine learning to medical datasets for diabetes prediction.</a:t>
                      </a:r>
                      <a:endParaRPr sz="1600">
                        <a:latin typeface="Century Schoolbook"/>
                        <a:ea typeface="Century Schoolbook"/>
                        <a:cs typeface="Century Schoolbook"/>
                        <a:sym typeface="Century Schoolbook"/>
                      </a:endParaRPr>
                    </a:p>
                  </a:txBody>
                  <a:tcPr marT="45725" marB="45725" marR="91450" marL="91450"/>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694765" y="10561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EXISTING SYSTEM</a:t>
            </a:r>
            <a:endParaRPr/>
          </a:p>
        </p:txBody>
      </p:sp>
      <p:sp>
        <p:nvSpPr>
          <p:cNvPr id="238" name="Google Shape;238;p38"/>
          <p:cNvSpPr txBox="1"/>
          <p:nvPr>
            <p:ph idx="1" type="body"/>
          </p:nvPr>
        </p:nvSpPr>
        <p:spPr>
          <a:xfrm>
            <a:off x="428525" y="1253400"/>
            <a:ext cx="11048100" cy="43512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If the system has been trained on a dataset that is not representative of diverse populations, it may not generalize well to different demographic groups. The Pima Indian dataset is commonly used for diabetes research, but it may not capture the variability present in other ethnic or geographical groups.</a:t>
            </a:r>
            <a:endParaRPr/>
          </a:p>
          <a:p>
            <a:pPr indent="0" lvl="0" marL="457200" rtl="0" algn="just">
              <a:lnSpc>
                <a:spcPct val="115000"/>
              </a:lnSpc>
              <a:spcBef>
                <a:spcPts val="0"/>
              </a:spcBef>
              <a:spcAft>
                <a:spcPts val="0"/>
              </a:spcAft>
              <a:buClr>
                <a:schemeClr val="dk1"/>
              </a:buClr>
              <a:buSzPts val="2300"/>
              <a:buNone/>
            </a:pPr>
            <a:r>
              <a:t/>
            </a:r>
            <a:endParaRPr sz="23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The model may have been overfitted to the specific characteristics of the training data, capturing noise or outliers rather than general patterns. This can result in poor performance when applied to new, unseen data.</a:t>
            </a:r>
            <a:endParaRPr/>
          </a:p>
          <a:p>
            <a:pPr indent="0" lvl="0" marL="457200" rtl="0" algn="just">
              <a:lnSpc>
                <a:spcPct val="115000"/>
              </a:lnSpc>
              <a:spcBef>
                <a:spcPts val="0"/>
              </a:spcBef>
              <a:spcAft>
                <a:spcPts val="0"/>
              </a:spcAft>
              <a:buClr>
                <a:schemeClr val="dk1"/>
              </a:buClr>
              <a:buSzPts val="2300"/>
              <a:buNone/>
            </a:pPr>
            <a:r>
              <a:t/>
            </a:r>
            <a:endParaRPr sz="23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If the dataset used for training is biased or incomplete, the model may inherit those biases. This can lead to inaccurate predictions, especially when applied to populations not well-represented in the training data.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838200" y="46525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DISADVANTAGES</a:t>
            </a:r>
            <a:endParaRPr/>
          </a:p>
        </p:txBody>
      </p:sp>
      <p:sp>
        <p:nvSpPr>
          <p:cNvPr id="244" name="Google Shape;244;p39"/>
          <p:cNvSpPr txBox="1"/>
          <p:nvPr>
            <p:ph idx="1" type="body"/>
          </p:nvPr>
        </p:nvSpPr>
        <p:spPr>
          <a:xfrm>
            <a:off x="838200" y="243457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Limited Generalization</a:t>
            </a:r>
            <a:endParaRPr sz="26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Overfitting</a:t>
            </a:r>
            <a:endParaRPr sz="26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Data Bias</a:t>
            </a:r>
            <a:endParaRPr sz="2600">
              <a:latin typeface="Times New Roman"/>
              <a:ea typeface="Times New Roman"/>
              <a:cs typeface="Times New Roman"/>
              <a:sym typeface="Times New Roman"/>
            </a:endParaRPr>
          </a:p>
        </p:txBody>
      </p:sp>
      <p:pic>
        <p:nvPicPr>
          <p:cNvPr id="245" name="Google Shape;245;p39"/>
          <p:cNvPicPr preferRelativeResize="0"/>
          <p:nvPr/>
        </p:nvPicPr>
        <p:blipFill rotWithShape="1">
          <a:blip r:embed="rId3">
            <a:alphaModFix/>
          </a:blip>
          <a:srcRect b="0" l="0" r="0" t="0"/>
          <a:stretch/>
        </p:blipFill>
        <p:spPr>
          <a:xfrm>
            <a:off x="1418150" y="403100"/>
            <a:ext cx="1731000" cy="1569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PROPOSED SYSTEM</a:t>
            </a:r>
            <a:endParaRPr/>
          </a:p>
        </p:txBody>
      </p:sp>
      <p:sp>
        <p:nvSpPr>
          <p:cNvPr id="251" name="Google Shape;251;p40"/>
          <p:cNvSpPr txBox="1"/>
          <p:nvPr>
            <p:ph idx="1" type="body"/>
          </p:nvPr>
        </p:nvSpPr>
        <p:spPr>
          <a:xfrm>
            <a:off x="587189" y="1556684"/>
            <a:ext cx="105156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IN" sz="2400">
                <a:solidFill>
                  <a:schemeClr val="dk1"/>
                </a:solidFill>
                <a:latin typeface="Times New Roman"/>
                <a:ea typeface="Times New Roman"/>
                <a:cs typeface="Times New Roman"/>
                <a:sym typeface="Times New Roman"/>
              </a:rPr>
              <a:t>The Pima dataset is relatively large and diverse, allowing machine learning models to capture a wide range of diabetes-related patterns. This diversity enhances the model's ability to generalize well to different populations. </a:t>
            </a:r>
            <a:endParaRPr/>
          </a:p>
          <a:p>
            <a:pPr indent="-228600" lvl="0" marL="228600" rtl="0" algn="just">
              <a:lnSpc>
                <a:spcPct val="90000"/>
              </a:lnSpc>
              <a:spcBef>
                <a:spcPts val="1000"/>
              </a:spcBef>
              <a:spcAft>
                <a:spcPts val="0"/>
              </a:spcAft>
              <a:buClr>
                <a:schemeClr val="dk1"/>
              </a:buClr>
              <a:buSzPts val="2400"/>
              <a:buChar char="•"/>
            </a:pPr>
            <a:r>
              <a:rPr lang="en-IN" sz="2400">
                <a:solidFill>
                  <a:schemeClr val="dk1"/>
                </a:solidFill>
                <a:latin typeface="Times New Roman"/>
                <a:ea typeface="Times New Roman"/>
                <a:cs typeface="Times New Roman"/>
                <a:sym typeface="Times New Roman"/>
              </a:rPr>
              <a:t>The dataset includes features such as glucose levels, BMI, age, and blood pressure, which are well-known risk factors for diabetes. Leveraging these well-studied features can contribute to the accuracy and effectiveness of the machine learning model.</a:t>
            </a:r>
            <a:endParaRPr/>
          </a:p>
          <a:p>
            <a:pPr indent="-228600" lvl="0" marL="228600" rtl="0" algn="just">
              <a:lnSpc>
                <a:spcPct val="90000"/>
              </a:lnSpc>
              <a:spcBef>
                <a:spcPts val="1000"/>
              </a:spcBef>
              <a:spcAft>
                <a:spcPts val="0"/>
              </a:spcAft>
              <a:buClr>
                <a:schemeClr val="dk1"/>
              </a:buClr>
              <a:buSzPts val="2400"/>
              <a:buChar char="•"/>
            </a:pPr>
            <a:r>
              <a:rPr lang="en-IN" sz="2400">
                <a:solidFill>
                  <a:schemeClr val="dk1"/>
                </a:solidFill>
                <a:latin typeface="Times New Roman"/>
                <a:ea typeface="Times New Roman"/>
                <a:cs typeface="Times New Roman"/>
                <a:sym typeface="Times New Roman"/>
              </a:rPr>
              <a:t>Machine learning models can analyze patterns in data to identify potential risk factors and early signs of diabetes, allowing for preventive measures to be taken before the condition worsens</a:t>
            </a:r>
            <a:r>
              <a:rPr lang="en-IN" sz="2400">
                <a:latin typeface="Times New Roman"/>
                <a:ea typeface="Times New Roman"/>
                <a:cs typeface="Times New Roman"/>
                <a:sym typeface="Times New Roman"/>
              </a:rPr>
              <a:t>.</a:t>
            </a:r>
            <a:endParaRPr/>
          </a:p>
          <a:p>
            <a:pPr indent="-228600" lvl="0" marL="228600" rtl="0" algn="just">
              <a:lnSpc>
                <a:spcPct val="90000"/>
              </a:lnSpc>
              <a:spcBef>
                <a:spcPts val="1000"/>
              </a:spcBef>
              <a:spcAft>
                <a:spcPts val="0"/>
              </a:spcAft>
              <a:buClr>
                <a:schemeClr val="dk1"/>
              </a:buClr>
              <a:buSzPts val="2400"/>
              <a:buChar char="•"/>
            </a:pPr>
            <a:r>
              <a:rPr lang="en-IN" sz="2400">
                <a:solidFill>
                  <a:schemeClr val="dk1"/>
                </a:solidFill>
                <a:latin typeface="Times New Roman"/>
                <a:ea typeface="Times New Roman"/>
                <a:cs typeface="Times New Roman"/>
                <a:sym typeface="Times New Roman"/>
              </a:rPr>
              <a:t>Machine learning can be integrated with wearable devices to collect real-time health data. This integration allows for more comprehensive monitoring, providing a continuous stream of information for diabetes prediction and management.</a:t>
            </a:r>
            <a:r>
              <a:rPr lang="en-IN" sz="2400">
                <a:latin typeface="Times New Roman"/>
                <a:ea typeface="Times New Roman"/>
                <a:cs typeface="Times New Roman"/>
                <a:sym typeface="Times New Roman"/>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ADVANTAGES</a:t>
            </a:r>
            <a:endParaRPr/>
          </a:p>
        </p:txBody>
      </p:sp>
      <p:sp>
        <p:nvSpPr>
          <p:cNvPr id="257" name="Google Shape;257;p41"/>
          <p:cNvSpPr txBox="1"/>
          <p:nvPr>
            <p:ph idx="1" type="body"/>
          </p:nvPr>
        </p:nvSpPr>
        <p:spPr>
          <a:xfrm>
            <a:off x="838200" y="2144600"/>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Large and Diverse Dataset </a:t>
            </a:r>
            <a:endParaRPr/>
          </a:p>
          <a:p>
            <a:pPr indent="-228600" lvl="0" marL="228600" rtl="0" algn="just">
              <a:lnSpc>
                <a:spcPct val="90000"/>
              </a:lnSpc>
              <a:spcBef>
                <a:spcPts val="100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Well-Studied Features </a:t>
            </a:r>
            <a:endParaRPr/>
          </a:p>
          <a:p>
            <a:pPr indent="-228600" lvl="0" marL="228600" rtl="0" algn="just">
              <a:lnSpc>
                <a:spcPct val="90000"/>
              </a:lnSpc>
              <a:spcBef>
                <a:spcPts val="100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Early Detection and Prevention</a:t>
            </a:r>
            <a:endParaRPr/>
          </a:p>
          <a:p>
            <a:pPr indent="-228600" lvl="0" marL="228600" rtl="0" algn="just">
              <a:lnSpc>
                <a:spcPct val="90000"/>
              </a:lnSpc>
              <a:spcBef>
                <a:spcPts val="1000"/>
              </a:spcBef>
              <a:spcAft>
                <a:spcPts val="0"/>
              </a:spcAft>
              <a:buClr>
                <a:schemeClr val="dk1"/>
              </a:buClr>
              <a:buSzPts val="2600"/>
              <a:buChar char="•"/>
            </a:pPr>
            <a:r>
              <a:rPr lang="en-IN" sz="2600">
                <a:solidFill>
                  <a:schemeClr val="dk1"/>
                </a:solidFill>
                <a:latin typeface="Times New Roman"/>
                <a:ea typeface="Times New Roman"/>
                <a:cs typeface="Times New Roman"/>
                <a:sym typeface="Times New Roman"/>
              </a:rPr>
              <a:t>Integration with Wearable Devices</a:t>
            </a:r>
            <a:endParaRPr sz="2600">
              <a:latin typeface="Times New Roman"/>
              <a:ea typeface="Times New Roman"/>
              <a:cs typeface="Times New Roman"/>
              <a:sym typeface="Times New Roman"/>
            </a:endParaRPr>
          </a:p>
        </p:txBody>
      </p:sp>
      <p:pic>
        <p:nvPicPr>
          <p:cNvPr id="258" name="Google Shape;258;p41"/>
          <p:cNvPicPr preferRelativeResize="0"/>
          <p:nvPr/>
        </p:nvPicPr>
        <p:blipFill rotWithShape="1">
          <a:blip r:embed="rId3">
            <a:alphaModFix/>
          </a:blip>
          <a:srcRect b="0" l="0" r="0" t="0"/>
          <a:stretch/>
        </p:blipFill>
        <p:spPr>
          <a:xfrm>
            <a:off x="2652422" y="454550"/>
            <a:ext cx="1062200" cy="999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chemeClr val="dk1"/>
              </a:buClr>
              <a:buSzPts val="4400"/>
              <a:buFont typeface="Times New Roman"/>
              <a:buNone/>
            </a:pPr>
            <a:r>
              <a:rPr b="1" lang="en-IN" sz="3200">
                <a:latin typeface="Times New Roman"/>
                <a:ea typeface="Times New Roman"/>
                <a:cs typeface="Times New Roman"/>
                <a:sym typeface="Times New Roman"/>
              </a:rPr>
              <a:t>TOOLS AND TECHNIQUES FOR PROPOSED SYSTEM</a:t>
            </a:r>
            <a:endParaRPr sz="3200"/>
          </a:p>
        </p:txBody>
      </p:sp>
      <p:sp>
        <p:nvSpPr>
          <p:cNvPr id="264" name="Google Shape;264;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latin typeface="Times New Roman"/>
                <a:ea typeface="Times New Roman"/>
                <a:cs typeface="Times New Roman"/>
                <a:sym typeface="Times New Roman"/>
              </a:rPr>
              <a:t>HARDWARE REQUIREMENTS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System : Pentium Dual Core.</a:t>
            </a:r>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Hard Disk : 120 GB.</a:t>
            </a:r>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Monitor : 15’’ LED</a:t>
            </a:r>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Input Devices : Keyboard, Mouse</a:t>
            </a:r>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Ram : 4 GB.</a:t>
            </a:r>
            <a:endParaRPr/>
          </a:p>
          <a:p>
            <a:pPr indent="0" lvl="0" marL="0" rtl="0" algn="just">
              <a:lnSpc>
                <a:spcPct val="90000"/>
              </a:lnSpc>
              <a:spcBef>
                <a:spcPts val="1000"/>
              </a:spcBef>
              <a:spcAft>
                <a:spcPts val="0"/>
              </a:spcAft>
              <a:buClr>
                <a:schemeClr val="dk1"/>
              </a:buClr>
              <a:buSzPts val="2800"/>
              <a:buNone/>
            </a:pPr>
            <a:r>
              <a:rPr b="1" lang="en-IN">
                <a:latin typeface="Times New Roman"/>
                <a:ea typeface="Times New Roman"/>
                <a:cs typeface="Times New Roman"/>
                <a:sym typeface="Times New Roman"/>
              </a:rPr>
              <a:t>SOFTWARE REQUIREMENTS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Operating system: Windows 7/10.</a:t>
            </a:r>
            <a:endParaRPr/>
          </a:p>
          <a:p>
            <a:pPr indent="-228600" lvl="0" marL="228600" rtl="0" algn="just">
              <a:lnSpc>
                <a:spcPct val="90000"/>
              </a:lnSpc>
              <a:spcBef>
                <a:spcPts val="1000"/>
              </a:spcBef>
              <a:spcAft>
                <a:spcPts val="0"/>
              </a:spcAft>
              <a:buClr>
                <a:schemeClr val="dk1"/>
              </a:buClr>
              <a:buSzPts val="2400"/>
              <a:buChar char="•"/>
            </a:pPr>
            <a:r>
              <a:rPr lang="en-IN" sz="2400">
                <a:latin typeface="Times New Roman"/>
                <a:ea typeface="Times New Roman"/>
                <a:cs typeface="Times New Roman"/>
                <a:sym typeface="Times New Roman"/>
              </a:rPr>
              <a:t>Coding Language :Python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838200" y="-17275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REFERENCES</a:t>
            </a:r>
            <a:endParaRPr/>
          </a:p>
        </p:txBody>
      </p:sp>
      <p:sp>
        <p:nvSpPr>
          <p:cNvPr id="270" name="Google Shape;270;p43"/>
          <p:cNvSpPr txBox="1"/>
          <p:nvPr>
            <p:ph idx="1" type="body"/>
          </p:nvPr>
        </p:nvSpPr>
        <p:spPr>
          <a:xfrm>
            <a:off x="838200" y="1152805"/>
            <a:ext cx="10515600" cy="4351338"/>
          </a:xfrm>
          <a:prstGeom prst="rect">
            <a:avLst/>
          </a:prstGeom>
          <a:noFill/>
          <a:ln>
            <a:noFill/>
          </a:ln>
        </p:spPr>
        <p:txBody>
          <a:bodyPr anchorCtr="0" anchor="t" bIns="45700" lIns="91425" spcFirstLastPara="1" rIns="91425" wrap="square" tIns="45700">
            <a:noAutofit/>
          </a:bodyPr>
          <a:lstStyle/>
          <a:p>
            <a:pPr indent="-330200" lvl="0" marL="342900" rtl="0" algn="l">
              <a:lnSpc>
                <a:spcPct val="150000"/>
              </a:lnSpc>
              <a:spcBef>
                <a:spcPts val="0"/>
              </a:spcBef>
              <a:spcAft>
                <a:spcPts val="0"/>
              </a:spcAft>
              <a:buClr>
                <a:srgbClr val="212121"/>
              </a:buClr>
              <a:buSzPts val="1800"/>
              <a:buFont typeface="Century Schoolbook"/>
              <a:buChar char="●"/>
            </a:pPr>
            <a:r>
              <a:rPr i="0" lang="en-IN" sz="1800">
                <a:solidFill>
                  <a:srgbClr val="212121"/>
                </a:solidFill>
                <a:latin typeface="Century Schoolbook"/>
                <a:ea typeface="Century Schoolbook"/>
                <a:cs typeface="Century Schoolbook"/>
                <a:sym typeface="Century Schoolbook"/>
              </a:rPr>
              <a:t>Solanki P, Baldaniya D, Jogani D, Chaudhary B, Shah M, Kshirsagar A. Artificial intelligence: new age of transformation in petroleum upstream. </a:t>
            </a:r>
            <a:r>
              <a:rPr i="1" lang="en-IN" sz="1800">
                <a:solidFill>
                  <a:srgbClr val="212121"/>
                </a:solidFill>
                <a:latin typeface="Century Schoolbook"/>
                <a:ea typeface="Century Schoolbook"/>
                <a:cs typeface="Century Schoolbook"/>
                <a:sym typeface="Century Schoolbook"/>
              </a:rPr>
              <a:t>Pet Res (in press) </a:t>
            </a:r>
            <a:r>
              <a:rPr i="0" lang="en-IN" sz="1800">
                <a:solidFill>
                  <a:srgbClr val="212121"/>
                </a:solidFill>
                <a:latin typeface="Century Schoolbook"/>
                <a:ea typeface="Century Schoolbook"/>
                <a:cs typeface="Century Schoolbook"/>
                <a:sym typeface="Century Schoolbook"/>
              </a:rPr>
              <a:t>2021 doi: 10.1016/j.ptlrs.2021.07.002. </a:t>
            </a:r>
            <a:endParaRPr sz="1800">
              <a:latin typeface="Century Schoolbook"/>
              <a:ea typeface="Century Schoolbook"/>
              <a:cs typeface="Century Schoolbook"/>
              <a:sym typeface="Century Schoolbook"/>
            </a:endParaRPr>
          </a:p>
          <a:p>
            <a:pPr indent="-330200" lvl="0" marL="342900" rtl="0" algn="l">
              <a:lnSpc>
                <a:spcPct val="150000"/>
              </a:lnSpc>
              <a:spcBef>
                <a:spcPts val="1000"/>
              </a:spcBef>
              <a:spcAft>
                <a:spcPts val="0"/>
              </a:spcAft>
              <a:buClr>
                <a:srgbClr val="000000"/>
              </a:buClr>
              <a:buSzPts val="1800"/>
              <a:buFont typeface="Century Schoolbook"/>
              <a:buChar char="●"/>
            </a:pPr>
            <a:r>
              <a:rPr i="0" lang="en-IN" sz="1800">
                <a:solidFill>
                  <a:srgbClr val="000000"/>
                </a:solidFill>
                <a:latin typeface="Century Schoolbook"/>
                <a:ea typeface="Century Schoolbook"/>
                <a:cs typeface="Century Schoolbook"/>
                <a:sym typeface="Century Schoolbook"/>
              </a:rPr>
              <a:t>K.VijiyaKumar, B.avania, I. Nirmala, S. Sofia Caroline, “Random Forest Algorithm for the Prediction of Diabetes “.Proceeding of International Conference on Systems Computation Automation and Networking, 2019.</a:t>
            </a:r>
            <a:endParaRPr sz="1800">
              <a:latin typeface="Century Schoolbook"/>
              <a:ea typeface="Century Schoolbook"/>
              <a:cs typeface="Century Schoolbook"/>
              <a:sym typeface="Century Schoolbook"/>
            </a:endParaRPr>
          </a:p>
          <a:p>
            <a:pPr indent="-330200" lvl="0" marL="342900" rtl="0" algn="l">
              <a:lnSpc>
                <a:spcPct val="150000"/>
              </a:lnSpc>
              <a:spcBef>
                <a:spcPts val="1000"/>
              </a:spcBef>
              <a:spcAft>
                <a:spcPts val="0"/>
              </a:spcAft>
              <a:buClr>
                <a:srgbClr val="000000"/>
              </a:buClr>
              <a:buSzPts val="1800"/>
              <a:buFont typeface="Century Schoolbook"/>
              <a:buChar char="●"/>
            </a:pPr>
            <a:r>
              <a:rPr i="0" lang="en-IN" sz="1800">
                <a:solidFill>
                  <a:srgbClr val="000000"/>
                </a:solidFill>
                <a:latin typeface="Century Schoolbook"/>
                <a:ea typeface="Century Schoolbook"/>
                <a:cs typeface="Century Schoolbook"/>
                <a:sym typeface="Century Schoolbook"/>
              </a:rPr>
              <a:t>Debadri Dutta, Debpriyo Paul, Parthajeet Ghosh, “Analyzing Feature Importances for Diabetes Prediction using Machine Learning”. IEEE, pp 942-928, 2018.</a:t>
            </a:r>
            <a:endParaRPr sz="1800">
              <a:latin typeface="Century Schoolbook"/>
              <a:ea typeface="Century Schoolbook"/>
              <a:cs typeface="Century Schoolbook"/>
              <a:sym typeface="Century Schoolbook"/>
            </a:endParaRPr>
          </a:p>
          <a:p>
            <a:pPr indent="-330200" lvl="0" marL="342900" rtl="0" algn="l">
              <a:lnSpc>
                <a:spcPct val="150000"/>
              </a:lnSpc>
              <a:spcBef>
                <a:spcPts val="1000"/>
              </a:spcBef>
              <a:spcAft>
                <a:spcPts val="0"/>
              </a:spcAft>
              <a:buClr>
                <a:srgbClr val="000000"/>
              </a:buClr>
              <a:buSzPts val="1800"/>
              <a:buFont typeface="Century Schoolbook"/>
              <a:buChar char="●"/>
            </a:pPr>
            <a:r>
              <a:rPr i="0" lang="en-IN" sz="1800">
                <a:solidFill>
                  <a:srgbClr val="000000"/>
                </a:solidFill>
                <a:latin typeface="Century Schoolbook"/>
                <a:ea typeface="Century Schoolbook"/>
                <a:cs typeface="Century Schoolbook"/>
                <a:sym typeface="Century Schoolbook"/>
              </a:rPr>
              <a:t>DeepikaVerma, Dr.Nidhi Mishra, “Analysis and prediction of breast cancer and diabetes disease dataset using data mining classification techniques”, Proceedings of the International Conference on Intelligent Sustainable Systems (ICISS 2017), IEEE Xplore Compliant - Part Number:CFP17M19-ART, ISBN:978-1-5386-1959.</a:t>
            </a:r>
            <a:endParaRPr sz="1800">
              <a:latin typeface="Century Schoolbook"/>
              <a:ea typeface="Century Schoolbook"/>
              <a:cs typeface="Century Schoolbook"/>
              <a:sym typeface="Century Schoolbook"/>
            </a:endParaRPr>
          </a:p>
          <a:p>
            <a:pPr indent="-228600" lvl="0" marL="228600" rtl="0" algn="just">
              <a:lnSpc>
                <a:spcPct val="9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4"/>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